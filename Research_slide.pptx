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Noto Serif" panose="020B0604020202020204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Noto Serif Bold" panose="020B0604020202020204" charset="0"/>
      <p:regular r:id="rId31"/>
    </p:embeddedFont>
    <p:embeddedFont>
      <p:font typeface="Aptos Bold" panose="020B0604020202020204" charset="0"/>
      <p:regular r:id="rId32"/>
    </p:embeddedFont>
    <p:embeddedFont>
      <p:font typeface="Aptos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11" cy="10295001"/>
            <a:chOff x="0" y="0"/>
            <a:chExt cx="24402415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731358"/>
            <a:ext cx="16315849" cy="134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9"/>
              </a:lnSpc>
            </a:pPr>
            <a:r>
              <a:rPr lang="en-US" sz="4278" spc="-85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Explainable Longitudinal Digital Twin for Glioma Progression: A Real-Data Multimodal MRI and Clinical Approach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3565284"/>
            <a:ext cx="16315849" cy="28575"/>
            <a:chOff x="0" y="0"/>
            <a:chExt cx="21754465" cy="38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4464" cy="38100"/>
            </a:xfrm>
            <a:custGeom>
              <a:avLst/>
              <a:gdLst/>
              <a:ahLst/>
              <a:cxnLst/>
              <a:rect l="l" t="t" r="r" b="b"/>
              <a:pathLst>
                <a:path w="2175446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35414" y="0"/>
                  </a:lnTo>
                  <a:cubicBezTo>
                    <a:pt x="21745955" y="0"/>
                    <a:pt x="21754464" y="8509"/>
                    <a:pt x="21754464" y="19050"/>
                  </a:cubicBezTo>
                  <a:cubicBezTo>
                    <a:pt x="21754464" y="29591"/>
                    <a:pt x="21745955" y="38100"/>
                    <a:pt x="2173541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C4C4C">
                <a:alpha val="5882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92991" y="4328331"/>
            <a:ext cx="8033861" cy="28575"/>
            <a:chOff x="0" y="0"/>
            <a:chExt cx="10711815" cy="3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92991" y="4471492"/>
            <a:ext cx="3350409" cy="42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Shahla Newas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991" y="4894136"/>
            <a:ext cx="8033861" cy="486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0182320012101393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74988" y="4328331"/>
            <a:ext cx="8033861" cy="28575"/>
            <a:chOff x="0" y="0"/>
            <a:chExt cx="10711815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274988" y="4471492"/>
            <a:ext cx="3374212" cy="42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Maiesa Siddika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74988" y="4894136"/>
            <a:ext cx="8033861" cy="486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0182320012101319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991" y="6271308"/>
            <a:ext cx="8033861" cy="28575"/>
            <a:chOff x="0" y="0"/>
            <a:chExt cx="10711815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92991" y="6414478"/>
            <a:ext cx="4112409" cy="42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Fahmida Iqbal Yesha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2991" y="6837121"/>
            <a:ext cx="8033861" cy="486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0182320012101329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74988" y="6271308"/>
            <a:ext cx="8033861" cy="28575"/>
            <a:chOff x="0" y="0"/>
            <a:chExt cx="10711815" cy="38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9274988" y="6414478"/>
            <a:ext cx="2307412" cy="42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Tuli Rani Das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74988" y="6837121"/>
            <a:ext cx="8033861" cy="486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0182320012101337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2991" y="8214284"/>
            <a:ext cx="8033861" cy="28575"/>
            <a:chOff x="0" y="0"/>
            <a:chExt cx="10711815" cy="381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92991" y="8357454"/>
            <a:ext cx="3655209" cy="42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Rahma Ferdous Lima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991" y="8780097"/>
            <a:ext cx="8033861" cy="486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0182320012101341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74988" y="8214284"/>
            <a:ext cx="8033861" cy="28575"/>
            <a:chOff x="0" y="0"/>
            <a:chExt cx="10711815" cy="38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274988" y="8357454"/>
            <a:ext cx="3831412" cy="42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Samiya Akhter Anika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74988" y="8780097"/>
            <a:ext cx="8033861" cy="486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0182320012101355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8992" y="882396"/>
            <a:ext cx="15590520" cy="59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Project Progress: What We Completed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6424" y="1650492"/>
            <a:ext cx="1517904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87787"/>
                </a:solidFill>
                <a:latin typeface="Aptos"/>
                <a:ea typeface="Aptos"/>
                <a:cs typeface="Aptos"/>
                <a:sym typeface="Aptos"/>
              </a:rPr>
              <a:t>Review focus: implementation status—not a repeat of the proposal.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1556" y="2873216"/>
            <a:ext cx="2592896" cy="2826067"/>
            <a:chOff x="0" y="0"/>
            <a:chExt cx="3457194" cy="37680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57194" cy="3768090"/>
            </a:xfrm>
            <a:custGeom>
              <a:avLst/>
              <a:gdLst/>
              <a:ahLst/>
              <a:cxnLst/>
              <a:rect l="l" t="t" r="r" b="b"/>
              <a:pathLst>
                <a:path w="3457194" h="3768090">
                  <a:moveTo>
                    <a:pt x="0" y="576199"/>
                  </a:moveTo>
                  <a:cubicBezTo>
                    <a:pt x="0" y="257937"/>
                    <a:pt x="257937" y="0"/>
                    <a:pt x="576199" y="0"/>
                  </a:cubicBezTo>
                  <a:lnTo>
                    <a:pt x="2880995" y="0"/>
                  </a:lnTo>
                  <a:cubicBezTo>
                    <a:pt x="3199257" y="0"/>
                    <a:pt x="3457194" y="257937"/>
                    <a:pt x="3457194" y="576199"/>
                  </a:cubicBezTo>
                  <a:lnTo>
                    <a:pt x="3457194" y="3191891"/>
                  </a:lnTo>
                  <a:cubicBezTo>
                    <a:pt x="3457194" y="3510153"/>
                    <a:pt x="3199257" y="3768090"/>
                    <a:pt x="2880995" y="3768090"/>
                  </a:cubicBezTo>
                  <a:lnTo>
                    <a:pt x="576199" y="3768090"/>
                  </a:lnTo>
                  <a:cubicBezTo>
                    <a:pt x="257937" y="3768090"/>
                    <a:pt x="0" y="3510153"/>
                    <a:pt x="0" y="3191891"/>
                  </a:cubicBezTo>
                  <a:close/>
                </a:path>
              </a:pathLst>
            </a:custGeom>
            <a:solidFill>
              <a:srgbClr val="E5EF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961388" y="3209544"/>
            <a:ext cx="713232" cy="713232"/>
            <a:chOff x="0" y="0"/>
            <a:chExt cx="950976" cy="950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052828" y="3474720"/>
            <a:ext cx="53035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7028" y="4187952"/>
            <a:ext cx="1901952" cy="27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66519" y="4740783"/>
            <a:ext cx="90297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466FAE"/>
                </a:solidFill>
                <a:latin typeface="Aptos Bold"/>
                <a:ea typeface="Aptos Bold"/>
                <a:cs typeface="Aptos Bold"/>
                <a:sym typeface="Aptos Bold"/>
              </a:rPr>
              <a:t>Verified</a:t>
            </a:r>
          </a:p>
        </p:txBody>
      </p:sp>
      <p:sp>
        <p:nvSpPr>
          <p:cNvPr id="11" name="AutoShape 11"/>
          <p:cNvSpPr/>
          <p:nvPr/>
        </p:nvSpPr>
        <p:spPr>
          <a:xfrm rot="516960">
            <a:off x="3588868" y="4269867"/>
            <a:ext cx="228895" cy="0"/>
          </a:xfrm>
          <a:prstGeom prst="line">
            <a:avLst/>
          </a:prstGeom>
          <a:ln w="19050" cap="rnd">
            <a:solidFill>
              <a:srgbClr val="466FA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3874484" y="2873216"/>
            <a:ext cx="2592896" cy="2826067"/>
            <a:chOff x="0" y="0"/>
            <a:chExt cx="3457194" cy="37680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57194" cy="3768090"/>
            </a:xfrm>
            <a:custGeom>
              <a:avLst/>
              <a:gdLst/>
              <a:ahLst/>
              <a:cxnLst/>
              <a:rect l="l" t="t" r="r" b="b"/>
              <a:pathLst>
                <a:path w="3457194" h="3768090">
                  <a:moveTo>
                    <a:pt x="0" y="576199"/>
                  </a:moveTo>
                  <a:cubicBezTo>
                    <a:pt x="0" y="257937"/>
                    <a:pt x="257937" y="0"/>
                    <a:pt x="576199" y="0"/>
                  </a:cubicBezTo>
                  <a:lnTo>
                    <a:pt x="2880995" y="0"/>
                  </a:lnTo>
                  <a:cubicBezTo>
                    <a:pt x="3199257" y="0"/>
                    <a:pt x="3457194" y="257937"/>
                    <a:pt x="3457194" y="576199"/>
                  </a:cubicBezTo>
                  <a:lnTo>
                    <a:pt x="3457194" y="3191891"/>
                  </a:lnTo>
                  <a:cubicBezTo>
                    <a:pt x="3457194" y="3510153"/>
                    <a:pt x="3199257" y="3768090"/>
                    <a:pt x="2880995" y="3768090"/>
                  </a:cubicBezTo>
                  <a:lnTo>
                    <a:pt x="576199" y="3768090"/>
                  </a:lnTo>
                  <a:cubicBezTo>
                    <a:pt x="257937" y="3768090"/>
                    <a:pt x="0" y="3510153"/>
                    <a:pt x="0" y="3191891"/>
                  </a:cubicBezTo>
                  <a:close/>
                </a:path>
              </a:pathLst>
            </a:custGeom>
            <a:solidFill>
              <a:srgbClr val="E2F4E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814316" y="3209544"/>
            <a:ext cx="713232" cy="713232"/>
            <a:chOff x="0" y="0"/>
            <a:chExt cx="950976" cy="9509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4905756" y="3474720"/>
            <a:ext cx="53035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19956" y="4187952"/>
            <a:ext cx="1901952" cy="27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MRI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40092" y="4740783"/>
            <a:ext cx="106168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Prepared</a:t>
            </a:r>
          </a:p>
        </p:txBody>
      </p:sp>
      <p:sp>
        <p:nvSpPr>
          <p:cNvPr id="19" name="AutoShape 19"/>
          <p:cNvSpPr/>
          <p:nvPr/>
        </p:nvSpPr>
        <p:spPr>
          <a:xfrm rot="516960">
            <a:off x="6441796" y="4269867"/>
            <a:ext cx="228895" cy="0"/>
          </a:xfrm>
          <a:prstGeom prst="line">
            <a:avLst/>
          </a:prstGeom>
          <a:ln w="19050" cap="rnd">
            <a:solidFill>
              <a:srgbClr val="1A87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6727412" y="2873216"/>
            <a:ext cx="2592896" cy="2826067"/>
            <a:chOff x="0" y="0"/>
            <a:chExt cx="3457194" cy="37680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57194" cy="3768090"/>
            </a:xfrm>
            <a:custGeom>
              <a:avLst/>
              <a:gdLst/>
              <a:ahLst/>
              <a:cxnLst/>
              <a:rect l="l" t="t" r="r" b="b"/>
              <a:pathLst>
                <a:path w="3457194" h="3768090">
                  <a:moveTo>
                    <a:pt x="0" y="576199"/>
                  </a:moveTo>
                  <a:cubicBezTo>
                    <a:pt x="0" y="257937"/>
                    <a:pt x="257937" y="0"/>
                    <a:pt x="576199" y="0"/>
                  </a:cubicBezTo>
                  <a:lnTo>
                    <a:pt x="2880995" y="0"/>
                  </a:lnTo>
                  <a:cubicBezTo>
                    <a:pt x="3199257" y="0"/>
                    <a:pt x="3457194" y="257937"/>
                    <a:pt x="3457194" y="576199"/>
                  </a:cubicBezTo>
                  <a:lnTo>
                    <a:pt x="3457194" y="3191891"/>
                  </a:lnTo>
                  <a:cubicBezTo>
                    <a:pt x="3457194" y="3510153"/>
                    <a:pt x="3199257" y="3768090"/>
                    <a:pt x="2880995" y="3768090"/>
                  </a:cubicBezTo>
                  <a:lnTo>
                    <a:pt x="576199" y="3768090"/>
                  </a:lnTo>
                  <a:cubicBezTo>
                    <a:pt x="257937" y="3768090"/>
                    <a:pt x="0" y="3510153"/>
                    <a:pt x="0" y="3191891"/>
                  </a:cubicBezTo>
                  <a:close/>
                </a:path>
              </a:pathLst>
            </a:custGeom>
            <a:solidFill>
              <a:srgbClr val="EFEB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667244" y="3209544"/>
            <a:ext cx="713232" cy="713232"/>
            <a:chOff x="0" y="0"/>
            <a:chExt cx="950976" cy="95097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7758684" y="3474720"/>
            <a:ext cx="53035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72884" y="4187952"/>
            <a:ext cx="1901952" cy="27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Models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90115" y="4740783"/>
            <a:ext cx="867489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Trained</a:t>
            </a:r>
          </a:p>
        </p:txBody>
      </p:sp>
      <p:sp>
        <p:nvSpPr>
          <p:cNvPr id="27" name="AutoShape 27"/>
          <p:cNvSpPr/>
          <p:nvPr/>
        </p:nvSpPr>
        <p:spPr>
          <a:xfrm rot="516960">
            <a:off x="9294724" y="4269867"/>
            <a:ext cx="228895" cy="0"/>
          </a:xfrm>
          <a:prstGeom prst="line">
            <a:avLst/>
          </a:prstGeom>
          <a:ln w="19050" cap="rnd">
            <a:solidFill>
              <a:srgbClr val="192F4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9580340" y="2873216"/>
            <a:ext cx="2592896" cy="2826067"/>
            <a:chOff x="0" y="0"/>
            <a:chExt cx="3457194" cy="376809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57194" cy="3768090"/>
            </a:xfrm>
            <a:custGeom>
              <a:avLst/>
              <a:gdLst/>
              <a:ahLst/>
              <a:cxnLst/>
              <a:rect l="l" t="t" r="r" b="b"/>
              <a:pathLst>
                <a:path w="3457194" h="3768090">
                  <a:moveTo>
                    <a:pt x="0" y="576199"/>
                  </a:moveTo>
                  <a:cubicBezTo>
                    <a:pt x="0" y="257937"/>
                    <a:pt x="257937" y="0"/>
                    <a:pt x="576199" y="0"/>
                  </a:cubicBezTo>
                  <a:lnTo>
                    <a:pt x="2880995" y="0"/>
                  </a:lnTo>
                  <a:cubicBezTo>
                    <a:pt x="3199257" y="0"/>
                    <a:pt x="3457194" y="257937"/>
                    <a:pt x="3457194" y="576199"/>
                  </a:cubicBezTo>
                  <a:lnTo>
                    <a:pt x="3457194" y="3191891"/>
                  </a:lnTo>
                  <a:cubicBezTo>
                    <a:pt x="3457194" y="3510153"/>
                    <a:pt x="3199257" y="3768090"/>
                    <a:pt x="2880995" y="3768090"/>
                  </a:cubicBezTo>
                  <a:lnTo>
                    <a:pt x="576199" y="3768090"/>
                  </a:lnTo>
                  <a:cubicBezTo>
                    <a:pt x="257937" y="3768090"/>
                    <a:pt x="0" y="3510153"/>
                    <a:pt x="0" y="3191891"/>
                  </a:cubicBezTo>
                  <a:close/>
                </a:path>
              </a:pathLst>
            </a:custGeom>
            <a:solidFill>
              <a:srgbClr val="FAEEE2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0520172" y="3209544"/>
            <a:ext cx="713232" cy="713232"/>
            <a:chOff x="0" y="0"/>
            <a:chExt cx="950976" cy="95097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0611612" y="3474720"/>
            <a:ext cx="53035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25812" y="4187952"/>
            <a:ext cx="1901952" cy="27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XAI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86323" y="4740783"/>
            <a:ext cx="78093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Tested</a:t>
            </a:r>
          </a:p>
        </p:txBody>
      </p:sp>
      <p:sp>
        <p:nvSpPr>
          <p:cNvPr id="35" name="AutoShape 35"/>
          <p:cNvSpPr/>
          <p:nvPr/>
        </p:nvSpPr>
        <p:spPr>
          <a:xfrm rot="516960">
            <a:off x="12147652" y="4269867"/>
            <a:ext cx="228895" cy="0"/>
          </a:xfrm>
          <a:prstGeom prst="line">
            <a:avLst/>
          </a:prstGeom>
          <a:ln w="19050" cap="rnd">
            <a:solidFill>
              <a:srgbClr val="1A87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6" name="Group 36"/>
          <p:cNvGrpSpPr/>
          <p:nvPr/>
        </p:nvGrpSpPr>
        <p:grpSpPr>
          <a:xfrm>
            <a:off x="12433268" y="2873216"/>
            <a:ext cx="2592896" cy="2826067"/>
            <a:chOff x="0" y="0"/>
            <a:chExt cx="3457194" cy="376809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57194" cy="3768090"/>
            </a:xfrm>
            <a:custGeom>
              <a:avLst/>
              <a:gdLst/>
              <a:ahLst/>
              <a:cxnLst/>
              <a:rect l="l" t="t" r="r" b="b"/>
              <a:pathLst>
                <a:path w="3457194" h="3768090">
                  <a:moveTo>
                    <a:pt x="0" y="576199"/>
                  </a:moveTo>
                  <a:cubicBezTo>
                    <a:pt x="0" y="257937"/>
                    <a:pt x="257937" y="0"/>
                    <a:pt x="576199" y="0"/>
                  </a:cubicBezTo>
                  <a:lnTo>
                    <a:pt x="2880995" y="0"/>
                  </a:lnTo>
                  <a:cubicBezTo>
                    <a:pt x="3199257" y="0"/>
                    <a:pt x="3457194" y="257937"/>
                    <a:pt x="3457194" y="576199"/>
                  </a:cubicBezTo>
                  <a:lnTo>
                    <a:pt x="3457194" y="3191891"/>
                  </a:lnTo>
                  <a:cubicBezTo>
                    <a:pt x="3457194" y="3510153"/>
                    <a:pt x="3199257" y="3768090"/>
                    <a:pt x="2880995" y="3768090"/>
                  </a:cubicBezTo>
                  <a:lnTo>
                    <a:pt x="576199" y="3768090"/>
                  </a:lnTo>
                  <a:cubicBezTo>
                    <a:pt x="257937" y="3768090"/>
                    <a:pt x="0" y="3510153"/>
                    <a:pt x="0" y="3191891"/>
                  </a:cubicBezTo>
                  <a:close/>
                </a:path>
              </a:pathLst>
            </a:custGeom>
            <a:solidFill>
              <a:srgbClr val="E5EF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3373100" y="3209544"/>
            <a:ext cx="713232" cy="713232"/>
            <a:chOff x="0" y="0"/>
            <a:chExt cx="950976" cy="95097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13464540" y="3474720"/>
            <a:ext cx="53035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78740" y="4187952"/>
            <a:ext cx="1901952" cy="27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Evaluation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081421" y="4740783"/>
            <a:ext cx="129659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466FAE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sp>
        <p:nvSpPr>
          <p:cNvPr id="43" name="AutoShape 43"/>
          <p:cNvSpPr/>
          <p:nvPr/>
        </p:nvSpPr>
        <p:spPr>
          <a:xfrm rot="516960">
            <a:off x="15000580" y="4269867"/>
            <a:ext cx="228895" cy="0"/>
          </a:xfrm>
          <a:prstGeom prst="line">
            <a:avLst/>
          </a:prstGeom>
          <a:ln w="19050" cap="rnd">
            <a:solidFill>
              <a:srgbClr val="466FA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4" name="Group 44"/>
          <p:cNvGrpSpPr/>
          <p:nvPr/>
        </p:nvGrpSpPr>
        <p:grpSpPr>
          <a:xfrm>
            <a:off x="15286196" y="2873216"/>
            <a:ext cx="2592896" cy="2826067"/>
            <a:chOff x="0" y="0"/>
            <a:chExt cx="3457194" cy="376809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457194" cy="3768090"/>
            </a:xfrm>
            <a:custGeom>
              <a:avLst/>
              <a:gdLst/>
              <a:ahLst/>
              <a:cxnLst/>
              <a:rect l="l" t="t" r="r" b="b"/>
              <a:pathLst>
                <a:path w="3457194" h="3768090">
                  <a:moveTo>
                    <a:pt x="0" y="576199"/>
                  </a:moveTo>
                  <a:cubicBezTo>
                    <a:pt x="0" y="257937"/>
                    <a:pt x="257937" y="0"/>
                    <a:pt x="576199" y="0"/>
                  </a:cubicBezTo>
                  <a:lnTo>
                    <a:pt x="2880995" y="0"/>
                  </a:lnTo>
                  <a:cubicBezTo>
                    <a:pt x="3199257" y="0"/>
                    <a:pt x="3457194" y="257937"/>
                    <a:pt x="3457194" y="576199"/>
                  </a:cubicBezTo>
                  <a:lnTo>
                    <a:pt x="3457194" y="3191891"/>
                  </a:lnTo>
                  <a:cubicBezTo>
                    <a:pt x="3457194" y="3510153"/>
                    <a:pt x="3199257" y="3768090"/>
                    <a:pt x="2880995" y="3768090"/>
                  </a:cubicBezTo>
                  <a:lnTo>
                    <a:pt x="576199" y="3768090"/>
                  </a:lnTo>
                  <a:cubicBezTo>
                    <a:pt x="257937" y="3768090"/>
                    <a:pt x="0" y="3510153"/>
                    <a:pt x="0" y="3191891"/>
                  </a:cubicBezTo>
                  <a:close/>
                </a:path>
              </a:pathLst>
            </a:custGeom>
            <a:solidFill>
              <a:srgbClr val="EFEB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6226028" y="3209544"/>
            <a:ext cx="713232" cy="713232"/>
            <a:chOff x="0" y="0"/>
            <a:chExt cx="950976" cy="95097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16317468" y="3474720"/>
            <a:ext cx="53035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631668" y="4187952"/>
            <a:ext cx="1901952" cy="27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Digital Twin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015192" y="4740783"/>
            <a:ext cx="113490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Prototype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988820" y="6515100"/>
            <a:ext cx="14196060" cy="1577340"/>
            <a:chOff x="0" y="0"/>
            <a:chExt cx="18928080" cy="21031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8928080" cy="2103120"/>
            </a:xfrm>
            <a:custGeom>
              <a:avLst/>
              <a:gdLst/>
              <a:ahLst/>
              <a:cxnLst/>
              <a:rect l="l" t="t" r="r" b="b"/>
              <a:pathLst>
                <a:path w="18928080" h="2103120">
                  <a:moveTo>
                    <a:pt x="0" y="350520"/>
                  </a:moveTo>
                  <a:cubicBezTo>
                    <a:pt x="0" y="156972"/>
                    <a:pt x="156972" y="0"/>
                    <a:pt x="350520" y="0"/>
                  </a:cubicBezTo>
                  <a:lnTo>
                    <a:pt x="18577561" y="0"/>
                  </a:lnTo>
                  <a:cubicBezTo>
                    <a:pt x="18771108" y="0"/>
                    <a:pt x="18928080" y="156972"/>
                    <a:pt x="18928080" y="350520"/>
                  </a:cubicBezTo>
                  <a:lnTo>
                    <a:pt x="18928080" y="1752600"/>
                  </a:lnTo>
                  <a:cubicBezTo>
                    <a:pt x="18928080" y="1946148"/>
                    <a:pt x="18771108" y="2103120"/>
                    <a:pt x="18577561" y="2103120"/>
                  </a:cubicBezTo>
                  <a:lnTo>
                    <a:pt x="350520" y="2103120"/>
                  </a:lnTo>
                  <a:cubicBezTo>
                    <a:pt x="156972" y="2103120"/>
                    <a:pt x="0" y="1946148"/>
                    <a:pt x="0" y="1752600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53" name="TextBox 53"/>
          <p:cNvSpPr txBox="1"/>
          <p:nvPr/>
        </p:nvSpPr>
        <p:spPr>
          <a:xfrm>
            <a:off x="2491740" y="6944868"/>
            <a:ext cx="1319022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A9E2DC"/>
                </a:solidFill>
                <a:latin typeface="Aptos Bold"/>
                <a:ea typeface="Aptos Bold"/>
                <a:cs typeface="Aptos Bold"/>
                <a:sym typeface="Aptos Bold"/>
              </a:rPr>
              <a:t>MAIN REVIEW MESSAGE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491740" y="7452360"/>
            <a:ext cx="1319022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We moved from a proposed framework to a complete experimental pipeline.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895" y="9101347"/>
            <a:ext cx="17230954" cy="48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63"/>
              </a:lnSpc>
            </a:pPr>
            <a:r>
              <a:rPr lang="en-US" sz="27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8992" y="882396"/>
            <a:ext cx="15590520" cy="59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Dataset Verification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6424" y="1650492"/>
            <a:ext cx="1517904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87787"/>
                </a:solidFill>
                <a:latin typeface="Aptos"/>
                <a:ea typeface="Aptos"/>
                <a:cs typeface="Aptos"/>
                <a:sym typeface="Aptos"/>
              </a:rPr>
              <a:t>Before modeling, we checked whether the longitudinal data were complete and geometrically consistent.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90136" y="2530316"/>
            <a:ext cx="3511867" cy="1728788"/>
            <a:chOff x="0" y="0"/>
            <a:chExt cx="4682490" cy="2305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82490" cy="2305050"/>
            </a:xfrm>
            <a:custGeom>
              <a:avLst/>
              <a:gdLst/>
              <a:ahLst/>
              <a:cxnLst/>
              <a:rect l="l" t="t" r="r" b="b"/>
              <a:pathLst>
                <a:path w="4682490" h="2305050">
                  <a:moveTo>
                    <a:pt x="0" y="384175"/>
                  </a:moveTo>
                  <a:cubicBezTo>
                    <a:pt x="0" y="171958"/>
                    <a:pt x="171958" y="0"/>
                    <a:pt x="384175" y="0"/>
                  </a:cubicBezTo>
                  <a:lnTo>
                    <a:pt x="4298315" y="0"/>
                  </a:lnTo>
                  <a:cubicBezTo>
                    <a:pt x="4510532" y="0"/>
                    <a:pt x="4682490" y="171958"/>
                    <a:pt x="4682490" y="384175"/>
                  </a:cubicBezTo>
                  <a:lnTo>
                    <a:pt x="4682490" y="1920875"/>
                  </a:lnTo>
                  <a:cubicBezTo>
                    <a:pt x="4682490" y="2133092"/>
                    <a:pt x="4510532" y="2305050"/>
                    <a:pt x="4298315" y="2305050"/>
                  </a:cubicBezTo>
                  <a:lnTo>
                    <a:pt x="384175" y="2305050"/>
                  </a:lnTo>
                  <a:cubicBezTo>
                    <a:pt x="171958" y="2305050"/>
                    <a:pt x="0" y="2133092"/>
                    <a:pt x="0" y="1920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257300" y="2816352"/>
            <a:ext cx="317754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298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8448" y="3570732"/>
            <a:ext cx="309524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687787"/>
                </a:solidFill>
                <a:latin typeface="Aptos Bold"/>
                <a:ea typeface="Aptos Bold"/>
                <a:cs typeface="Aptos Bold"/>
                <a:sym typeface="Aptos Bold"/>
              </a:rPr>
              <a:t>PATIENTS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862036" y="2530316"/>
            <a:ext cx="3511867" cy="1728788"/>
            <a:chOff x="0" y="0"/>
            <a:chExt cx="4682490" cy="2305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82490" cy="2305050"/>
            </a:xfrm>
            <a:custGeom>
              <a:avLst/>
              <a:gdLst/>
              <a:ahLst/>
              <a:cxnLst/>
              <a:rect l="l" t="t" r="r" b="b"/>
              <a:pathLst>
                <a:path w="4682490" h="2305050">
                  <a:moveTo>
                    <a:pt x="0" y="384175"/>
                  </a:moveTo>
                  <a:cubicBezTo>
                    <a:pt x="0" y="171958"/>
                    <a:pt x="171958" y="0"/>
                    <a:pt x="384175" y="0"/>
                  </a:cubicBezTo>
                  <a:lnTo>
                    <a:pt x="4298315" y="0"/>
                  </a:lnTo>
                  <a:cubicBezTo>
                    <a:pt x="4510532" y="0"/>
                    <a:pt x="4682490" y="171958"/>
                    <a:pt x="4682490" y="384175"/>
                  </a:cubicBezTo>
                  <a:lnTo>
                    <a:pt x="4682490" y="1920875"/>
                  </a:lnTo>
                  <a:cubicBezTo>
                    <a:pt x="4682490" y="2133092"/>
                    <a:pt x="4510532" y="2305050"/>
                    <a:pt x="4298315" y="2305050"/>
                  </a:cubicBezTo>
                  <a:lnTo>
                    <a:pt x="384175" y="2305050"/>
                  </a:lnTo>
                  <a:cubicBezTo>
                    <a:pt x="171958" y="2305050"/>
                    <a:pt x="0" y="2133092"/>
                    <a:pt x="0" y="1920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5029200" y="2816352"/>
            <a:ext cx="317754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1">
                <a:solidFill>
                  <a:srgbClr val="466FAE"/>
                </a:solidFill>
                <a:latin typeface="Aptos Bold"/>
                <a:ea typeface="Aptos Bold"/>
                <a:cs typeface="Aptos Bold"/>
                <a:sym typeface="Aptos Bold"/>
              </a:rPr>
              <a:t>1,788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0348" y="3570732"/>
            <a:ext cx="309524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687787"/>
                </a:solidFill>
                <a:latin typeface="Aptos Bold"/>
                <a:ea typeface="Aptos Bold"/>
                <a:cs typeface="Aptos Bold"/>
                <a:sym typeface="Aptos Bold"/>
              </a:rPr>
              <a:t>MRI FILES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633936" y="2530316"/>
            <a:ext cx="3511867" cy="1728788"/>
            <a:chOff x="0" y="0"/>
            <a:chExt cx="4682490" cy="2305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82490" cy="2305050"/>
            </a:xfrm>
            <a:custGeom>
              <a:avLst/>
              <a:gdLst/>
              <a:ahLst/>
              <a:cxnLst/>
              <a:rect l="l" t="t" r="r" b="b"/>
              <a:pathLst>
                <a:path w="4682490" h="2305050">
                  <a:moveTo>
                    <a:pt x="0" y="384175"/>
                  </a:moveTo>
                  <a:cubicBezTo>
                    <a:pt x="0" y="171958"/>
                    <a:pt x="171958" y="0"/>
                    <a:pt x="384175" y="0"/>
                  </a:cubicBezTo>
                  <a:lnTo>
                    <a:pt x="4298315" y="0"/>
                  </a:lnTo>
                  <a:cubicBezTo>
                    <a:pt x="4510532" y="0"/>
                    <a:pt x="4682490" y="171958"/>
                    <a:pt x="4682490" y="384175"/>
                  </a:cubicBezTo>
                  <a:lnTo>
                    <a:pt x="4682490" y="1920875"/>
                  </a:lnTo>
                  <a:cubicBezTo>
                    <a:pt x="4682490" y="2133092"/>
                    <a:pt x="4510532" y="2305050"/>
                    <a:pt x="4298315" y="2305050"/>
                  </a:cubicBezTo>
                  <a:lnTo>
                    <a:pt x="384175" y="2305050"/>
                  </a:lnTo>
                  <a:cubicBezTo>
                    <a:pt x="171958" y="2305050"/>
                    <a:pt x="0" y="2133092"/>
                    <a:pt x="0" y="1920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8801100" y="2816352"/>
            <a:ext cx="317754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42248" y="3570732"/>
            <a:ext cx="309524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687787"/>
                </a:solidFill>
                <a:latin typeface="Aptos Bold"/>
                <a:ea typeface="Aptos Bold"/>
                <a:cs typeface="Aptos Bold"/>
                <a:sym typeface="Aptos Bold"/>
              </a:rPr>
              <a:t>MISSING FILES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405836" y="2530316"/>
            <a:ext cx="4609147" cy="1728788"/>
            <a:chOff x="0" y="0"/>
            <a:chExt cx="6145530" cy="23050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45530" cy="2305050"/>
            </a:xfrm>
            <a:custGeom>
              <a:avLst/>
              <a:gdLst/>
              <a:ahLst/>
              <a:cxnLst/>
              <a:rect l="l" t="t" r="r" b="b"/>
              <a:pathLst>
                <a:path w="6145530" h="2305050">
                  <a:moveTo>
                    <a:pt x="0" y="384175"/>
                  </a:moveTo>
                  <a:cubicBezTo>
                    <a:pt x="0" y="171958"/>
                    <a:pt x="171958" y="0"/>
                    <a:pt x="384175" y="0"/>
                  </a:cubicBezTo>
                  <a:lnTo>
                    <a:pt x="5761355" y="0"/>
                  </a:lnTo>
                  <a:cubicBezTo>
                    <a:pt x="5973572" y="0"/>
                    <a:pt x="6145530" y="171958"/>
                    <a:pt x="6145530" y="384175"/>
                  </a:cubicBezTo>
                  <a:lnTo>
                    <a:pt x="6145530" y="1920875"/>
                  </a:lnTo>
                  <a:cubicBezTo>
                    <a:pt x="6145530" y="2133092"/>
                    <a:pt x="5973572" y="2305050"/>
                    <a:pt x="5761355" y="2305050"/>
                  </a:cubicBezTo>
                  <a:lnTo>
                    <a:pt x="384175" y="2305050"/>
                  </a:lnTo>
                  <a:cubicBezTo>
                    <a:pt x="171958" y="2305050"/>
                    <a:pt x="0" y="2133092"/>
                    <a:pt x="0" y="1920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573000" y="2816352"/>
            <a:ext cx="427482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TIME 1 ↔ TIME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14148" y="3570732"/>
            <a:ext cx="419252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687787"/>
                </a:solidFill>
                <a:latin typeface="Aptos Bold"/>
                <a:ea typeface="Aptos Bold"/>
                <a:cs typeface="Aptos Bold"/>
                <a:sym typeface="Aptos Bold"/>
              </a:rPr>
              <a:t>MATCHED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6152" y="4983480"/>
            <a:ext cx="43434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LONGITUDINAL CHECK</a:t>
            </a:r>
          </a:p>
        </p:txBody>
      </p:sp>
      <p:sp>
        <p:nvSpPr>
          <p:cNvPr id="21" name="AutoShape 21"/>
          <p:cNvSpPr/>
          <p:nvPr/>
        </p:nvSpPr>
        <p:spPr>
          <a:xfrm rot="10140">
            <a:off x="2106901" y="6409563"/>
            <a:ext cx="12931197" cy="0"/>
          </a:xfrm>
          <a:prstGeom prst="line">
            <a:avLst/>
          </a:prstGeom>
          <a:ln w="19050" cap="rnd">
            <a:solidFill>
              <a:srgbClr val="DBE3E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961388" y="6254496"/>
            <a:ext cx="329184" cy="329184"/>
            <a:chOff x="0" y="0"/>
            <a:chExt cx="438912" cy="4389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25880" y="5600700"/>
            <a:ext cx="16002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TIME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2497" y="6931152"/>
            <a:ext cx="238696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MRI + segmentation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407908" y="6254496"/>
            <a:ext cx="329184" cy="329184"/>
            <a:chOff x="0" y="0"/>
            <a:chExt cx="438912" cy="4389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7772400" y="5600700"/>
            <a:ext cx="16002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GEOMETRY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53193" y="6931152"/>
            <a:ext cx="2238613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Registration check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854428" y="6254496"/>
            <a:ext cx="329184" cy="329184"/>
            <a:chOff x="0" y="0"/>
            <a:chExt cx="438912" cy="4389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4218920" y="5600700"/>
            <a:ext cx="16002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TIME 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825537" y="6931152"/>
            <a:ext cx="238696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MRI + segmentation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281928" y="8257032"/>
            <a:ext cx="5554980" cy="534924"/>
            <a:chOff x="0" y="0"/>
            <a:chExt cx="7406640" cy="7132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406640" cy="713232"/>
            </a:xfrm>
            <a:custGeom>
              <a:avLst/>
              <a:gdLst/>
              <a:ahLst/>
              <a:cxnLst/>
              <a:rect l="l" t="t" r="r" b="b"/>
              <a:pathLst>
                <a:path w="7406640" h="713232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7287768" y="0"/>
                  </a:lnTo>
                  <a:cubicBezTo>
                    <a:pt x="7353427" y="0"/>
                    <a:pt x="7406640" y="53213"/>
                    <a:pt x="7406640" y="118872"/>
                  </a:cubicBezTo>
                  <a:lnTo>
                    <a:pt x="7406640" y="594360"/>
                  </a:lnTo>
                  <a:cubicBezTo>
                    <a:pt x="7406640" y="660019"/>
                    <a:pt x="7353427" y="713232"/>
                    <a:pt x="7287768" y="713232"/>
                  </a:cubicBezTo>
                  <a:lnTo>
                    <a:pt x="118872" y="713232"/>
                  </a:lnTo>
                  <a:cubicBezTo>
                    <a:pt x="53213" y="713232"/>
                    <a:pt x="0" y="660019"/>
                    <a:pt x="0" y="594360"/>
                  </a:cubicBezTo>
                  <a:close/>
                </a:path>
              </a:pathLst>
            </a:custGeom>
            <a:solidFill>
              <a:srgbClr val="E2F4EF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6373368" y="8426196"/>
            <a:ext cx="537210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NO REGISTRATION MISMATCH FOUND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8992" y="882396"/>
            <a:ext cx="15590520" cy="59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MRI Preprocessing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6424" y="1650492"/>
            <a:ext cx="1517904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87787"/>
                </a:solidFill>
                <a:latin typeface="Aptos"/>
                <a:ea typeface="Aptos"/>
                <a:cs typeface="Aptos"/>
                <a:sym typeface="Aptos"/>
              </a:rPr>
              <a:t>The goal was to make every patient comparable before model training.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17568" y="6645116"/>
            <a:ext cx="3511867" cy="1632776"/>
            <a:chOff x="0" y="0"/>
            <a:chExt cx="4682490" cy="21770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82490" cy="2177034"/>
            </a:xfrm>
            <a:custGeom>
              <a:avLst/>
              <a:gdLst/>
              <a:ahLst/>
              <a:cxnLst/>
              <a:rect l="l" t="t" r="r" b="b"/>
              <a:pathLst>
                <a:path w="4682490" h="2177034">
                  <a:moveTo>
                    <a:pt x="0" y="362839"/>
                  </a:moveTo>
                  <a:cubicBezTo>
                    <a:pt x="0" y="162433"/>
                    <a:pt x="162433" y="0"/>
                    <a:pt x="362839" y="0"/>
                  </a:cubicBezTo>
                  <a:lnTo>
                    <a:pt x="4319651" y="0"/>
                  </a:lnTo>
                  <a:cubicBezTo>
                    <a:pt x="4520057" y="0"/>
                    <a:pt x="4682490" y="162433"/>
                    <a:pt x="4682490" y="362839"/>
                  </a:cubicBezTo>
                  <a:lnTo>
                    <a:pt x="4682490" y="1814195"/>
                  </a:lnTo>
                  <a:cubicBezTo>
                    <a:pt x="4682490" y="2014601"/>
                    <a:pt x="4520057" y="2177034"/>
                    <a:pt x="4319651" y="2177034"/>
                  </a:cubicBezTo>
                  <a:lnTo>
                    <a:pt x="362839" y="2177034"/>
                  </a:lnTo>
                  <a:cubicBezTo>
                    <a:pt x="162433" y="2177034"/>
                    <a:pt x="0" y="2014601"/>
                    <a:pt x="0" y="1814195"/>
                  </a:cubicBezTo>
                  <a:close/>
                </a:path>
              </a:pathLst>
            </a:custGeom>
            <a:solidFill>
              <a:srgbClr val="E5EF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463040" y="6917436"/>
            <a:ext cx="3256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466FAE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3040" y="7301484"/>
            <a:ext cx="276606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Normalize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3040" y="7767828"/>
            <a:ext cx="276606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Intensity</a:t>
            </a:r>
          </a:p>
        </p:txBody>
      </p:sp>
      <p:sp>
        <p:nvSpPr>
          <p:cNvPr id="9" name="AutoShape 9"/>
          <p:cNvSpPr/>
          <p:nvPr/>
        </p:nvSpPr>
        <p:spPr>
          <a:xfrm rot="173460">
            <a:off x="4604709" y="7451979"/>
            <a:ext cx="679809" cy="0"/>
          </a:xfrm>
          <a:prstGeom prst="line">
            <a:avLst/>
          </a:prstGeom>
          <a:ln w="19050" cap="rnd">
            <a:solidFill>
              <a:srgbClr val="466FA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5259800" y="5657564"/>
            <a:ext cx="3511867" cy="1632776"/>
            <a:chOff x="0" y="0"/>
            <a:chExt cx="4682490" cy="21770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82490" cy="2177034"/>
            </a:xfrm>
            <a:custGeom>
              <a:avLst/>
              <a:gdLst/>
              <a:ahLst/>
              <a:cxnLst/>
              <a:rect l="l" t="t" r="r" b="b"/>
              <a:pathLst>
                <a:path w="4682490" h="2177034">
                  <a:moveTo>
                    <a:pt x="0" y="362839"/>
                  </a:moveTo>
                  <a:cubicBezTo>
                    <a:pt x="0" y="162433"/>
                    <a:pt x="162433" y="0"/>
                    <a:pt x="362839" y="0"/>
                  </a:cubicBezTo>
                  <a:lnTo>
                    <a:pt x="4319651" y="0"/>
                  </a:lnTo>
                  <a:cubicBezTo>
                    <a:pt x="4520057" y="0"/>
                    <a:pt x="4682490" y="162433"/>
                    <a:pt x="4682490" y="362839"/>
                  </a:cubicBezTo>
                  <a:lnTo>
                    <a:pt x="4682490" y="1814195"/>
                  </a:lnTo>
                  <a:cubicBezTo>
                    <a:pt x="4682490" y="2014601"/>
                    <a:pt x="4520057" y="2177034"/>
                    <a:pt x="4319651" y="2177034"/>
                  </a:cubicBezTo>
                  <a:lnTo>
                    <a:pt x="362839" y="2177034"/>
                  </a:lnTo>
                  <a:cubicBezTo>
                    <a:pt x="162433" y="2177034"/>
                    <a:pt x="0" y="2014601"/>
                    <a:pt x="0" y="1814195"/>
                  </a:cubicBezTo>
                  <a:close/>
                </a:path>
              </a:pathLst>
            </a:custGeom>
            <a:solidFill>
              <a:srgbClr val="E2F4E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5605272" y="5929884"/>
            <a:ext cx="3256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05272" y="6313932"/>
            <a:ext cx="276606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Crop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05272" y="6780276"/>
            <a:ext cx="276606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Relevant region</a:t>
            </a:r>
          </a:p>
        </p:txBody>
      </p:sp>
      <p:sp>
        <p:nvSpPr>
          <p:cNvPr id="15" name="AutoShape 15"/>
          <p:cNvSpPr/>
          <p:nvPr/>
        </p:nvSpPr>
        <p:spPr>
          <a:xfrm rot="173460">
            <a:off x="8746950" y="6464427"/>
            <a:ext cx="679809" cy="0"/>
          </a:xfrm>
          <a:prstGeom prst="line">
            <a:avLst/>
          </a:prstGeom>
          <a:ln w="19050" cap="rnd">
            <a:solidFill>
              <a:srgbClr val="1A87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9402032" y="4670012"/>
            <a:ext cx="3511867" cy="1632776"/>
            <a:chOff x="0" y="0"/>
            <a:chExt cx="4682490" cy="21770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82490" cy="2177034"/>
            </a:xfrm>
            <a:custGeom>
              <a:avLst/>
              <a:gdLst/>
              <a:ahLst/>
              <a:cxnLst/>
              <a:rect l="l" t="t" r="r" b="b"/>
              <a:pathLst>
                <a:path w="4682490" h="2177034">
                  <a:moveTo>
                    <a:pt x="0" y="362839"/>
                  </a:moveTo>
                  <a:cubicBezTo>
                    <a:pt x="0" y="162433"/>
                    <a:pt x="162433" y="0"/>
                    <a:pt x="362839" y="0"/>
                  </a:cubicBezTo>
                  <a:lnTo>
                    <a:pt x="4319651" y="0"/>
                  </a:lnTo>
                  <a:cubicBezTo>
                    <a:pt x="4520057" y="0"/>
                    <a:pt x="4682490" y="162433"/>
                    <a:pt x="4682490" y="362839"/>
                  </a:cubicBezTo>
                  <a:lnTo>
                    <a:pt x="4682490" y="1814195"/>
                  </a:lnTo>
                  <a:cubicBezTo>
                    <a:pt x="4682490" y="2014601"/>
                    <a:pt x="4520057" y="2177034"/>
                    <a:pt x="4319651" y="2177034"/>
                  </a:cubicBezTo>
                  <a:lnTo>
                    <a:pt x="362839" y="2177034"/>
                  </a:lnTo>
                  <a:cubicBezTo>
                    <a:pt x="162433" y="2177034"/>
                    <a:pt x="0" y="2014601"/>
                    <a:pt x="0" y="1814195"/>
                  </a:cubicBezTo>
                  <a:close/>
                </a:path>
              </a:pathLst>
            </a:custGeom>
            <a:solidFill>
              <a:srgbClr val="EFEB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9747504" y="4942332"/>
            <a:ext cx="3256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47504" y="5326380"/>
            <a:ext cx="276606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Pad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47504" y="5792724"/>
            <a:ext cx="276606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Common geometry</a:t>
            </a:r>
          </a:p>
        </p:txBody>
      </p:sp>
      <p:sp>
        <p:nvSpPr>
          <p:cNvPr id="21" name="AutoShape 21"/>
          <p:cNvSpPr/>
          <p:nvPr/>
        </p:nvSpPr>
        <p:spPr>
          <a:xfrm rot="173460">
            <a:off x="12889182" y="5476875"/>
            <a:ext cx="679809" cy="0"/>
          </a:xfrm>
          <a:prstGeom prst="line">
            <a:avLst/>
          </a:prstGeom>
          <a:ln w="19050" cap="rnd">
            <a:solidFill>
              <a:srgbClr val="192F4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3544264" y="3682460"/>
            <a:ext cx="3511867" cy="1632776"/>
            <a:chOff x="0" y="0"/>
            <a:chExt cx="4682490" cy="21770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82490" cy="2177034"/>
            </a:xfrm>
            <a:custGeom>
              <a:avLst/>
              <a:gdLst/>
              <a:ahLst/>
              <a:cxnLst/>
              <a:rect l="l" t="t" r="r" b="b"/>
              <a:pathLst>
                <a:path w="4682490" h="2177034">
                  <a:moveTo>
                    <a:pt x="0" y="362839"/>
                  </a:moveTo>
                  <a:cubicBezTo>
                    <a:pt x="0" y="162433"/>
                    <a:pt x="162433" y="0"/>
                    <a:pt x="362839" y="0"/>
                  </a:cubicBezTo>
                  <a:lnTo>
                    <a:pt x="4319651" y="0"/>
                  </a:lnTo>
                  <a:cubicBezTo>
                    <a:pt x="4520057" y="0"/>
                    <a:pt x="4682490" y="162433"/>
                    <a:pt x="4682490" y="362839"/>
                  </a:cubicBezTo>
                  <a:lnTo>
                    <a:pt x="4682490" y="1814195"/>
                  </a:lnTo>
                  <a:cubicBezTo>
                    <a:pt x="4682490" y="2014601"/>
                    <a:pt x="4520057" y="2177034"/>
                    <a:pt x="4319651" y="2177034"/>
                  </a:cubicBezTo>
                  <a:lnTo>
                    <a:pt x="362839" y="2177034"/>
                  </a:lnTo>
                  <a:cubicBezTo>
                    <a:pt x="162433" y="2177034"/>
                    <a:pt x="0" y="2014601"/>
                    <a:pt x="0" y="1814195"/>
                  </a:cubicBezTo>
                  <a:close/>
                </a:path>
              </a:pathLst>
            </a:custGeom>
            <a:solidFill>
              <a:srgbClr val="FAEEE2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3889736" y="3954780"/>
            <a:ext cx="3256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466FAE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89736" y="4338828"/>
            <a:ext cx="276606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Resize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89736" y="4805172"/>
            <a:ext cx="276606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224 × 224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709985" y="2103072"/>
            <a:ext cx="14206947" cy="1552527"/>
            <a:chOff x="0" y="0"/>
            <a:chExt cx="18942596" cy="207003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942686" cy="2070100"/>
            </a:xfrm>
            <a:custGeom>
              <a:avLst/>
              <a:gdLst/>
              <a:ahLst/>
              <a:cxnLst/>
              <a:rect l="l" t="t" r="r" b="b"/>
              <a:pathLst>
                <a:path w="18942686" h="2070100">
                  <a:moveTo>
                    <a:pt x="0" y="345059"/>
                  </a:moveTo>
                  <a:cubicBezTo>
                    <a:pt x="0" y="154432"/>
                    <a:pt x="154432" y="0"/>
                    <a:pt x="345059" y="0"/>
                  </a:cubicBezTo>
                  <a:lnTo>
                    <a:pt x="18597626" y="0"/>
                  </a:lnTo>
                  <a:cubicBezTo>
                    <a:pt x="18788126" y="0"/>
                    <a:pt x="18942686" y="154432"/>
                    <a:pt x="18942686" y="345059"/>
                  </a:cubicBezTo>
                  <a:lnTo>
                    <a:pt x="18942686" y="1725041"/>
                  </a:lnTo>
                  <a:cubicBezTo>
                    <a:pt x="18942686" y="1915541"/>
                    <a:pt x="18788253" y="2070100"/>
                    <a:pt x="18597626" y="2070100"/>
                  </a:cubicBezTo>
                  <a:lnTo>
                    <a:pt x="345059" y="2070100"/>
                  </a:lnTo>
                  <a:cubicBezTo>
                    <a:pt x="154432" y="2070100"/>
                    <a:pt x="0" y="1915541"/>
                    <a:pt x="0" y="172504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2423160" y="2453707"/>
            <a:ext cx="1332738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STANDARDIZED LONGITUDINAL INPUT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07793" y="2933005"/>
            <a:ext cx="1332738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Same spatial format • same image scale • consistent slices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89670" y="6519950"/>
            <a:ext cx="708660" cy="219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895" y="9091822"/>
            <a:ext cx="17230954" cy="48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6"/>
              </a:lnSpc>
            </a:pPr>
            <a:r>
              <a:rPr lang="en-US" sz="26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890743"/>
            <a:ext cx="15996040" cy="4367557"/>
          </a:xfrm>
          <a:custGeom>
            <a:avLst/>
            <a:gdLst/>
            <a:ahLst/>
            <a:cxnLst/>
            <a:rect l="l" t="t" r="r" b="b"/>
            <a:pathLst>
              <a:path w="15996040" h="4367557">
                <a:moveTo>
                  <a:pt x="0" y="0"/>
                </a:moveTo>
                <a:lnTo>
                  <a:pt x="15996040" y="0"/>
                </a:lnTo>
                <a:lnTo>
                  <a:pt x="15996040" y="4367557"/>
                </a:lnTo>
                <a:lnTo>
                  <a:pt x="0" y="4367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54652" y="304358"/>
            <a:ext cx="12178696" cy="4316913"/>
          </a:xfrm>
          <a:custGeom>
            <a:avLst/>
            <a:gdLst/>
            <a:ahLst/>
            <a:cxnLst/>
            <a:rect l="l" t="t" r="r" b="b"/>
            <a:pathLst>
              <a:path w="12178696" h="4316913">
                <a:moveTo>
                  <a:pt x="0" y="0"/>
                </a:moveTo>
                <a:lnTo>
                  <a:pt x="12178696" y="0"/>
                </a:lnTo>
                <a:lnTo>
                  <a:pt x="12178696" y="4316913"/>
                </a:lnTo>
                <a:lnTo>
                  <a:pt x="0" y="431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1243" y="9448800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8992" y="882396"/>
            <a:ext cx="15590520" cy="59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Input Construction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6424" y="1650492"/>
            <a:ext cx="1517904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87787"/>
                </a:solidFill>
                <a:latin typeface="Aptos"/>
                <a:ea typeface="Aptos"/>
                <a:cs typeface="Aptos"/>
                <a:sym typeface="Aptos"/>
              </a:rPr>
              <a:t>Each patient was converted into a matched two-timepoint representation.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97280" y="2537460"/>
            <a:ext cx="5623560" cy="6515100"/>
            <a:chOff x="0" y="0"/>
            <a:chExt cx="7498080" cy="8686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98080" cy="8686800"/>
            </a:xfrm>
            <a:custGeom>
              <a:avLst/>
              <a:gdLst/>
              <a:ahLst/>
              <a:cxnLst/>
              <a:rect l="l" t="t" r="r" b="b"/>
              <a:pathLst>
                <a:path w="7498080" h="8686800">
                  <a:moveTo>
                    <a:pt x="0" y="1249680"/>
                  </a:moveTo>
                  <a:cubicBezTo>
                    <a:pt x="0" y="559562"/>
                    <a:pt x="559562" y="0"/>
                    <a:pt x="1249680" y="0"/>
                  </a:cubicBezTo>
                  <a:lnTo>
                    <a:pt x="6248400" y="0"/>
                  </a:lnTo>
                  <a:cubicBezTo>
                    <a:pt x="6938645" y="0"/>
                    <a:pt x="7498080" y="559562"/>
                    <a:pt x="7498080" y="1249680"/>
                  </a:cubicBezTo>
                  <a:lnTo>
                    <a:pt x="7498080" y="7437120"/>
                  </a:lnTo>
                  <a:cubicBezTo>
                    <a:pt x="7498080" y="8127364"/>
                    <a:pt x="6938518" y="8686800"/>
                    <a:pt x="6248400" y="8686800"/>
                  </a:cubicBezTo>
                  <a:lnTo>
                    <a:pt x="1249680" y="8686800"/>
                  </a:lnTo>
                  <a:cubicBezTo>
                    <a:pt x="559562" y="8686800"/>
                    <a:pt x="0" y="8127238"/>
                    <a:pt x="0" y="7437120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68780" y="3063240"/>
            <a:ext cx="4480560" cy="23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 b="1">
                <a:solidFill>
                  <a:srgbClr val="A9E2DC"/>
                </a:solidFill>
                <a:latin typeface="Aptos Bold"/>
                <a:ea typeface="Aptos Bold"/>
                <a:cs typeface="Aptos Bold"/>
                <a:sym typeface="Aptos Bold"/>
              </a:rPr>
              <a:t>FINAL MRI INPUT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7360" y="3913632"/>
            <a:ext cx="4343400" cy="115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48 matched</a:t>
            </a:r>
          </a:p>
          <a:p>
            <a:pPr algn="ctr">
              <a:lnSpc>
                <a:spcPts val="4500"/>
              </a:lnSpc>
            </a:pPr>
            <a:r>
              <a:rPr lang="en-US" sz="37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slices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851660" y="5554980"/>
            <a:ext cx="1783080" cy="534924"/>
            <a:chOff x="0" y="0"/>
            <a:chExt cx="2377440" cy="7132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77440" cy="713232"/>
            </a:xfrm>
            <a:custGeom>
              <a:avLst/>
              <a:gdLst/>
              <a:ahLst/>
              <a:cxnLst/>
              <a:rect l="l" t="t" r="r" b="b"/>
              <a:pathLst>
                <a:path w="2377440" h="713232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2258568" y="0"/>
                  </a:lnTo>
                  <a:cubicBezTo>
                    <a:pt x="2324227" y="0"/>
                    <a:pt x="2377440" y="53213"/>
                    <a:pt x="2377440" y="118872"/>
                  </a:cubicBezTo>
                  <a:lnTo>
                    <a:pt x="2377440" y="594360"/>
                  </a:lnTo>
                  <a:cubicBezTo>
                    <a:pt x="2377440" y="660019"/>
                    <a:pt x="2324227" y="713232"/>
                    <a:pt x="2258568" y="713232"/>
                  </a:cubicBezTo>
                  <a:lnTo>
                    <a:pt x="118872" y="713232"/>
                  </a:lnTo>
                  <a:cubicBezTo>
                    <a:pt x="53213" y="713232"/>
                    <a:pt x="0" y="660019"/>
                    <a:pt x="0" y="594360"/>
                  </a:cubicBezTo>
                  <a:close/>
                </a:path>
              </a:pathLst>
            </a:custGeom>
            <a:solidFill>
              <a:srgbClr val="E2F4E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943100" y="5724144"/>
            <a:ext cx="160020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"/>
              </a:lnSpc>
            </a:pPr>
            <a:r>
              <a:rPr lang="en-US" sz="1303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FLAIR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909060" y="5554980"/>
            <a:ext cx="1783080" cy="534924"/>
            <a:chOff x="0" y="0"/>
            <a:chExt cx="2377440" cy="7132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77440" cy="713232"/>
            </a:xfrm>
            <a:custGeom>
              <a:avLst/>
              <a:gdLst/>
              <a:ahLst/>
              <a:cxnLst/>
              <a:rect l="l" t="t" r="r" b="b"/>
              <a:pathLst>
                <a:path w="2377440" h="713232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2258568" y="0"/>
                  </a:lnTo>
                  <a:cubicBezTo>
                    <a:pt x="2324227" y="0"/>
                    <a:pt x="2377440" y="53213"/>
                    <a:pt x="2377440" y="118872"/>
                  </a:cubicBezTo>
                  <a:lnTo>
                    <a:pt x="2377440" y="594360"/>
                  </a:lnTo>
                  <a:cubicBezTo>
                    <a:pt x="2377440" y="660019"/>
                    <a:pt x="2324227" y="713232"/>
                    <a:pt x="2258568" y="713232"/>
                  </a:cubicBezTo>
                  <a:lnTo>
                    <a:pt x="118872" y="713232"/>
                  </a:lnTo>
                  <a:cubicBezTo>
                    <a:pt x="53213" y="713232"/>
                    <a:pt x="0" y="660019"/>
                    <a:pt x="0" y="594360"/>
                  </a:cubicBezTo>
                  <a:close/>
                </a:path>
              </a:pathLst>
            </a:custGeom>
            <a:solidFill>
              <a:srgbClr val="E5EFF9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4000500" y="5724144"/>
            <a:ext cx="160020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"/>
              </a:lnSpc>
            </a:pPr>
            <a:r>
              <a:rPr lang="en-US" sz="1303" b="1">
                <a:solidFill>
                  <a:srgbClr val="466FAE"/>
                </a:solidFill>
                <a:latin typeface="Aptos Bold"/>
                <a:ea typeface="Aptos Bold"/>
                <a:cs typeface="Aptos Bold"/>
                <a:sym typeface="Aptos Bold"/>
              </a:rPr>
              <a:t>T1CE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8780" y="6697980"/>
            <a:ext cx="4480560" cy="42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 channels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8780" y="7383780"/>
            <a:ext cx="4480560" cy="42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A9E2DC"/>
                </a:solidFill>
                <a:latin typeface="Aptos Bold"/>
                <a:ea typeface="Aptos Bold"/>
                <a:cs typeface="Aptos Bold"/>
                <a:sym typeface="Aptos Bold"/>
              </a:rPr>
              <a:t>224 × 224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330916" y="2530316"/>
            <a:ext cx="4334828" cy="2140267"/>
            <a:chOff x="0" y="0"/>
            <a:chExt cx="5779770" cy="28536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79770" cy="2853690"/>
            </a:xfrm>
            <a:custGeom>
              <a:avLst/>
              <a:gdLst/>
              <a:ahLst/>
              <a:cxnLst/>
              <a:rect l="l" t="t" r="r" b="b"/>
              <a:pathLst>
                <a:path w="5779770" h="2853690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5304155" y="0"/>
                  </a:lnTo>
                  <a:cubicBezTo>
                    <a:pt x="5566791" y="0"/>
                    <a:pt x="5779770" y="212979"/>
                    <a:pt x="5779770" y="475615"/>
                  </a:cubicBezTo>
                  <a:lnTo>
                    <a:pt x="5779770" y="2378075"/>
                  </a:lnTo>
                  <a:cubicBezTo>
                    <a:pt x="5779770" y="2640711"/>
                    <a:pt x="5566791" y="2853690"/>
                    <a:pt x="5304155" y="2853690"/>
                  </a:cubicBezTo>
                  <a:lnTo>
                    <a:pt x="475615" y="2853690"/>
                  </a:lnTo>
                  <a:cubicBezTo>
                    <a:pt x="212979" y="2853690"/>
                    <a:pt x="0" y="2640711"/>
                    <a:pt x="0" y="2378075"/>
                  </a:cubicBezTo>
                  <a:close/>
                </a:path>
              </a:pathLst>
            </a:custGeom>
            <a:solidFill>
              <a:srgbClr val="E5EF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338060" y="2537460"/>
            <a:ext cx="89154" cy="2125980"/>
            <a:chOff x="0" y="0"/>
            <a:chExt cx="118872" cy="2834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8872" cy="2834640"/>
            </a:xfrm>
            <a:custGeom>
              <a:avLst/>
              <a:gdLst/>
              <a:ahLst/>
              <a:cxnLst/>
              <a:rect l="l" t="t" r="r" b="b"/>
              <a:pathLst>
                <a:path w="118872" h="2834640">
                  <a:moveTo>
                    <a:pt x="0" y="0"/>
                  </a:moveTo>
                  <a:lnTo>
                    <a:pt x="118872" y="0"/>
                  </a:lnTo>
                  <a:lnTo>
                    <a:pt x="11887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7731252" y="2802636"/>
            <a:ext cx="89332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TIME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1252" y="3351276"/>
            <a:ext cx="3561588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48 matched slices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FLAIR + T1CE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337256" y="2530316"/>
            <a:ext cx="4334828" cy="2140267"/>
            <a:chOff x="0" y="0"/>
            <a:chExt cx="5779770" cy="28536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779770" cy="2853690"/>
            </a:xfrm>
            <a:custGeom>
              <a:avLst/>
              <a:gdLst/>
              <a:ahLst/>
              <a:cxnLst/>
              <a:rect l="l" t="t" r="r" b="b"/>
              <a:pathLst>
                <a:path w="5779770" h="2853690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5304155" y="0"/>
                  </a:lnTo>
                  <a:cubicBezTo>
                    <a:pt x="5566791" y="0"/>
                    <a:pt x="5779770" y="212979"/>
                    <a:pt x="5779770" y="475615"/>
                  </a:cubicBezTo>
                  <a:lnTo>
                    <a:pt x="5779770" y="2378075"/>
                  </a:lnTo>
                  <a:cubicBezTo>
                    <a:pt x="5779770" y="2640711"/>
                    <a:pt x="5566791" y="2853690"/>
                    <a:pt x="5304155" y="2853690"/>
                  </a:cubicBezTo>
                  <a:lnTo>
                    <a:pt x="475615" y="2853690"/>
                  </a:lnTo>
                  <a:cubicBezTo>
                    <a:pt x="212979" y="2853690"/>
                    <a:pt x="0" y="2640711"/>
                    <a:pt x="0" y="2378075"/>
                  </a:cubicBezTo>
                  <a:close/>
                </a:path>
              </a:pathLst>
            </a:custGeom>
            <a:solidFill>
              <a:srgbClr val="E2F4E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2344400" y="2537460"/>
            <a:ext cx="89154" cy="2125980"/>
            <a:chOff x="0" y="0"/>
            <a:chExt cx="118872" cy="28346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8872" cy="2834640"/>
            </a:xfrm>
            <a:custGeom>
              <a:avLst/>
              <a:gdLst/>
              <a:ahLst/>
              <a:cxnLst/>
              <a:rect l="l" t="t" r="r" b="b"/>
              <a:pathLst>
                <a:path w="118872" h="2834640">
                  <a:moveTo>
                    <a:pt x="0" y="0"/>
                  </a:moveTo>
                  <a:lnTo>
                    <a:pt x="118872" y="0"/>
                  </a:lnTo>
                  <a:lnTo>
                    <a:pt x="11887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1A8782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2737592" y="2802636"/>
            <a:ext cx="89332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TIME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37592" y="3351276"/>
            <a:ext cx="3561588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48 matched slices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FLAIR + T1CE</a:t>
            </a:r>
          </a:p>
        </p:txBody>
      </p:sp>
      <p:sp>
        <p:nvSpPr>
          <p:cNvPr id="28" name="AutoShape 28"/>
          <p:cNvSpPr/>
          <p:nvPr/>
        </p:nvSpPr>
        <p:spPr>
          <a:xfrm rot="180780">
            <a:off x="11639045" y="3597783"/>
            <a:ext cx="724900" cy="0"/>
          </a:xfrm>
          <a:prstGeom prst="line">
            <a:avLst/>
          </a:prstGeom>
          <a:ln w="19050" cap="rnd">
            <a:solidFill>
              <a:srgbClr val="192F4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7330916" y="5314664"/>
            <a:ext cx="9341168" cy="2894648"/>
            <a:chOff x="0" y="0"/>
            <a:chExt cx="12454890" cy="385953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454890" cy="3859530"/>
            </a:xfrm>
            <a:custGeom>
              <a:avLst/>
              <a:gdLst/>
              <a:ahLst/>
              <a:cxnLst/>
              <a:rect l="l" t="t" r="r" b="b"/>
              <a:pathLst>
                <a:path w="12454890" h="3859530">
                  <a:moveTo>
                    <a:pt x="0" y="643255"/>
                  </a:moveTo>
                  <a:cubicBezTo>
                    <a:pt x="0" y="288036"/>
                    <a:pt x="288036" y="0"/>
                    <a:pt x="643255" y="0"/>
                  </a:cubicBezTo>
                  <a:lnTo>
                    <a:pt x="11811636" y="0"/>
                  </a:lnTo>
                  <a:cubicBezTo>
                    <a:pt x="12166854" y="0"/>
                    <a:pt x="12454890" y="288036"/>
                    <a:pt x="12454890" y="643255"/>
                  </a:cubicBezTo>
                  <a:lnTo>
                    <a:pt x="12454890" y="3216275"/>
                  </a:lnTo>
                  <a:cubicBezTo>
                    <a:pt x="12454890" y="3571494"/>
                    <a:pt x="12166854" y="3859530"/>
                    <a:pt x="11811636" y="3859530"/>
                  </a:cubicBezTo>
                  <a:lnTo>
                    <a:pt x="643255" y="3859530"/>
                  </a:lnTo>
                  <a:cubicBezTo>
                    <a:pt x="288036" y="3859530"/>
                    <a:pt x="0" y="3571494"/>
                    <a:pt x="0" y="32162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7840980" y="5751576"/>
            <a:ext cx="832104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WHY MATCHED SLICES MATTER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36992" y="6396228"/>
            <a:ext cx="8115300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model can compare corresponding anatomy across Time 1 and Time 2 instead of treating the scans as unrelated images.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805940" y="457200"/>
            <a:ext cx="1559052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Baseline &amp; Ablation 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33372" y="1262253"/>
            <a:ext cx="153162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Validation performance - concise comparison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140" y="1965960"/>
            <a:ext cx="358687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5E6976"/>
                </a:solidFill>
                <a:latin typeface="Aptos Bold"/>
                <a:ea typeface="Aptos Bold"/>
                <a:cs typeface="Aptos Bold"/>
                <a:sym typeface="Aptos Bold"/>
              </a:rPr>
              <a:t>Validation Accuracy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1556" y="2571464"/>
            <a:ext cx="3511867" cy="2826067"/>
            <a:chOff x="0" y="0"/>
            <a:chExt cx="4682490" cy="37680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82490" cy="3768090"/>
            </a:xfrm>
            <a:custGeom>
              <a:avLst/>
              <a:gdLst/>
              <a:ahLst/>
              <a:cxnLst/>
              <a:rect l="l" t="t" r="r" b="b"/>
              <a:pathLst>
                <a:path w="4682490" h="3768090">
                  <a:moveTo>
                    <a:pt x="0" y="628015"/>
                  </a:moveTo>
                  <a:cubicBezTo>
                    <a:pt x="0" y="281178"/>
                    <a:pt x="281178" y="0"/>
                    <a:pt x="628015" y="0"/>
                  </a:cubicBezTo>
                  <a:lnTo>
                    <a:pt x="4054475" y="0"/>
                  </a:lnTo>
                  <a:cubicBezTo>
                    <a:pt x="4401312" y="0"/>
                    <a:pt x="4682490" y="281178"/>
                    <a:pt x="4682490" y="628015"/>
                  </a:cubicBezTo>
                  <a:lnTo>
                    <a:pt x="4682490" y="3140075"/>
                  </a:lnTo>
                  <a:cubicBezTo>
                    <a:pt x="4682490" y="3486912"/>
                    <a:pt x="4401312" y="3768090"/>
                    <a:pt x="4054475" y="3768090"/>
                  </a:cubicBezTo>
                  <a:lnTo>
                    <a:pt x="628015" y="3768090"/>
                  </a:lnTo>
                  <a:cubicBezTo>
                    <a:pt x="281178" y="3768090"/>
                    <a:pt x="0" y="3486912"/>
                    <a:pt x="0" y="3140075"/>
                  </a:cubicBezTo>
                  <a:close/>
                </a:path>
              </a:pathLst>
            </a:custGeom>
            <a:solidFill>
              <a:srgbClr val="EBF3FB"/>
            </a:solidFill>
            <a:ln w="14288" cap="sq">
              <a:solidFill>
                <a:srgbClr val="DCE2E9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325880" y="2953512"/>
            <a:ext cx="290322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2D68A8"/>
                </a:solidFill>
                <a:latin typeface="Aptos Bold"/>
                <a:ea typeface="Aptos Bold"/>
                <a:cs typeface="Aptos Bold"/>
                <a:sym typeface="Aptos Bold"/>
              </a:rPr>
              <a:t>Clinical-only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7300" y="3717417"/>
            <a:ext cx="3040380" cy="612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44.44%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08133" y="4544568"/>
            <a:ext cx="113871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5E6976"/>
                </a:solidFill>
                <a:latin typeface="Aptos Bold"/>
                <a:ea typeface="Aptos Bold"/>
                <a:cs typeface="Aptos Bold"/>
                <a:sym typeface="Aptos Bold"/>
              </a:rPr>
              <a:t>Baseline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273516" y="2571464"/>
            <a:ext cx="3511867" cy="2826067"/>
            <a:chOff x="0" y="0"/>
            <a:chExt cx="4682490" cy="37680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82490" cy="3768090"/>
            </a:xfrm>
            <a:custGeom>
              <a:avLst/>
              <a:gdLst/>
              <a:ahLst/>
              <a:cxnLst/>
              <a:rect l="l" t="t" r="r" b="b"/>
              <a:pathLst>
                <a:path w="4682490" h="3768090">
                  <a:moveTo>
                    <a:pt x="0" y="628015"/>
                  </a:moveTo>
                  <a:cubicBezTo>
                    <a:pt x="0" y="281178"/>
                    <a:pt x="281178" y="0"/>
                    <a:pt x="628015" y="0"/>
                  </a:cubicBezTo>
                  <a:lnTo>
                    <a:pt x="4054475" y="0"/>
                  </a:lnTo>
                  <a:cubicBezTo>
                    <a:pt x="4401312" y="0"/>
                    <a:pt x="4682490" y="281178"/>
                    <a:pt x="4682490" y="628015"/>
                  </a:cubicBezTo>
                  <a:lnTo>
                    <a:pt x="4682490" y="3140075"/>
                  </a:lnTo>
                  <a:cubicBezTo>
                    <a:pt x="4682490" y="3486912"/>
                    <a:pt x="4401312" y="3768090"/>
                    <a:pt x="4054475" y="3768090"/>
                  </a:cubicBezTo>
                  <a:lnTo>
                    <a:pt x="628015" y="3768090"/>
                  </a:lnTo>
                  <a:cubicBezTo>
                    <a:pt x="281178" y="3768090"/>
                    <a:pt x="0" y="3486912"/>
                    <a:pt x="0" y="3140075"/>
                  </a:cubicBezTo>
                  <a:close/>
                </a:path>
              </a:pathLst>
            </a:custGeom>
            <a:solidFill>
              <a:srgbClr val="EBF7F7"/>
            </a:solidFill>
            <a:ln w="14288" cap="sq">
              <a:solidFill>
                <a:srgbClr val="DCE2E9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5577840" y="2953512"/>
            <a:ext cx="290322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238589"/>
                </a:solidFill>
                <a:latin typeface="Aptos Bold"/>
                <a:ea typeface="Aptos Bold"/>
                <a:cs typeface="Aptos Bold"/>
                <a:sym typeface="Aptos Bold"/>
              </a:rPr>
              <a:t>Time 1 CNN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09260" y="3717417"/>
            <a:ext cx="3040380" cy="612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53.33%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54375" y="4544568"/>
            <a:ext cx="21501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5E6976"/>
                </a:solidFill>
                <a:latin typeface="Aptos Bold"/>
                <a:ea typeface="Aptos Bold"/>
                <a:cs typeface="Aptos Bold"/>
                <a:sym typeface="Aptos Bold"/>
              </a:rPr>
              <a:t>Single timepoint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525476" y="2571464"/>
            <a:ext cx="3511867" cy="2826067"/>
            <a:chOff x="0" y="0"/>
            <a:chExt cx="4682490" cy="37680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682490" cy="3768090"/>
            </a:xfrm>
            <a:custGeom>
              <a:avLst/>
              <a:gdLst/>
              <a:ahLst/>
              <a:cxnLst/>
              <a:rect l="l" t="t" r="r" b="b"/>
              <a:pathLst>
                <a:path w="4682490" h="3768090">
                  <a:moveTo>
                    <a:pt x="0" y="628015"/>
                  </a:moveTo>
                  <a:cubicBezTo>
                    <a:pt x="0" y="281178"/>
                    <a:pt x="281178" y="0"/>
                    <a:pt x="628015" y="0"/>
                  </a:cubicBezTo>
                  <a:lnTo>
                    <a:pt x="4054475" y="0"/>
                  </a:lnTo>
                  <a:cubicBezTo>
                    <a:pt x="4401312" y="0"/>
                    <a:pt x="4682490" y="281178"/>
                    <a:pt x="4682490" y="628015"/>
                  </a:cubicBezTo>
                  <a:lnTo>
                    <a:pt x="4682490" y="3140075"/>
                  </a:lnTo>
                  <a:cubicBezTo>
                    <a:pt x="4682490" y="3486912"/>
                    <a:pt x="4401312" y="3768090"/>
                    <a:pt x="4054475" y="3768090"/>
                  </a:cubicBezTo>
                  <a:lnTo>
                    <a:pt x="628015" y="3768090"/>
                  </a:lnTo>
                  <a:cubicBezTo>
                    <a:pt x="281178" y="3768090"/>
                    <a:pt x="0" y="3486912"/>
                    <a:pt x="0" y="3140075"/>
                  </a:cubicBezTo>
                  <a:close/>
                </a:path>
              </a:pathLst>
            </a:custGeom>
            <a:solidFill>
              <a:srgbClr val="EBF7F7"/>
            </a:solidFill>
            <a:ln w="14288" cap="sq">
              <a:solidFill>
                <a:srgbClr val="DCE2E9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9829800" y="2953512"/>
            <a:ext cx="290322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238589"/>
                </a:solidFill>
                <a:latin typeface="Aptos Bold"/>
                <a:ea typeface="Aptos Bold"/>
                <a:cs typeface="Aptos Bold"/>
                <a:sym typeface="Aptos Bold"/>
              </a:rPr>
              <a:t>Time 2 CNN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61220" y="3717417"/>
            <a:ext cx="3040380" cy="612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53.33%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06335" y="4544568"/>
            <a:ext cx="21501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5E6976"/>
                </a:solidFill>
                <a:latin typeface="Aptos Bold"/>
                <a:ea typeface="Aptos Bold"/>
                <a:cs typeface="Aptos Bold"/>
                <a:sym typeface="Aptos Bold"/>
              </a:rPr>
              <a:t>Single timepoint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777436" y="2571464"/>
            <a:ext cx="3511867" cy="2826067"/>
            <a:chOff x="0" y="0"/>
            <a:chExt cx="4682490" cy="37680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82490" cy="3768090"/>
            </a:xfrm>
            <a:custGeom>
              <a:avLst/>
              <a:gdLst/>
              <a:ahLst/>
              <a:cxnLst/>
              <a:rect l="l" t="t" r="r" b="b"/>
              <a:pathLst>
                <a:path w="4682490" h="3768090">
                  <a:moveTo>
                    <a:pt x="0" y="628015"/>
                  </a:moveTo>
                  <a:cubicBezTo>
                    <a:pt x="0" y="281178"/>
                    <a:pt x="281178" y="0"/>
                    <a:pt x="628015" y="0"/>
                  </a:cubicBezTo>
                  <a:lnTo>
                    <a:pt x="4054475" y="0"/>
                  </a:lnTo>
                  <a:cubicBezTo>
                    <a:pt x="4401312" y="0"/>
                    <a:pt x="4682490" y="281178"/>
                    <a:pt x="4682490" y="628015"/>
                  </a:cubicBezTo>
                  <a:lnTo>
                    <a:pt x="4682490" y="3140075"/>
                  </a:lnTo>
                  <a:cubicBezTo>
                    <a:pt x="4682490" y="3486912"/>
                    <a:pt x="4401312" y="3768090"/>
                    <a:pt x="4054475" y="3768090"/>
                  </a:cubicBezTo>
                  <a:lnTo>
                    <a:pt x="628015" y="3768090"/>
                  </a:lnTo>
                  <a:cubicBezTo>
                    <a:pt x="281178" y="3768090"/>
                    <a:pt x="0" y="3486912"/>
                    <a:pt x="0" y="3140075"/>
                  </a:cubicBezTo>
                  <a:close/>
                </a:path>
              </a:pathLst>
            </a:custGeom>
            <a:solidFill>
              <a:srgbClr val="EBF8F0"/>
            </a:solidFill>
            <a:ln w="14288" cap="sq">
              <a:solidFill>
                <a:srgbClr val="DCE2E9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4081760" y="2953512"/>
            <a:ext cx="290322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2D915B"/>
                </a:solidFill>
                <a:latin typeface="Aptos Bold"/>
                <a:ea typeface="Aptos Bold"/>
                <a:cs typeface="Aptos Bold"/>
                <a:sym typeface="Aptos Bold"/>
              </a:rPr>
              <a:t>Improved Siamese + Clinical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13180" y="3717417"/>
            <a:ext cx="3040380" cy="612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60.00%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822210" y="4544568"/>
            <a:ext cx="142232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5E6976"/>
                </a:solidFill>
                <a:latin typeface="Aptos Bold"/>
                <a:ea typeface="Aptos Bold"/>
                <a:cs typeface="Aptos Bold"/>
                <a:sym typeface="Aptos Bold"/>
              </a:rPr>
              <a:t>Best result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00150" y="6778657"/>
            <a:ext cx="16267748" cy="2003108"/>
            <a:chOff x="0" y="0"/>
            <a:chExt cx="21690330" cy="26708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690330" cy="2670810"/>
            </a:xfrm>
            <a:custGeom>
              <a:avLst/>
              <a:gdLst/>
              <a:ahLst/>
              <a:cxnLst/>
              <a:rect l="l" t="t" r="r" b="b"/>
              <a:pathLst>
                <a:path w="21690330" h="2670810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21245196" y="0"/>
                  </a:lnTo>
                  <a:cubicBezTo>
                    <a:pt x="21491068" y="0"/>
                    <a:pt x="21690330" y="199263"/>
                    <a:pt x="21690330" y="445135"/>
                  </a:cubicBezTo>
                  <a:lnTo>
                    <a:pt x="21690330" y="2225675"/>
                  </a:lnTo>
                  <a:cubicBezTo>
                    <a:pt x="21690330" y="2471547"/>
                    <a:pt x="21491068" y="2670810"/>
                    <a:pt x="21245196" y="2670810"/>
                  </a:cubicBezTo>
                  <a:lnTo>
                    <a:pt x="445135" y="2670810"/>
                  </a:lnTo>
                  <a:cubicBezTo>
                    <a:pt x="199263" y="2670810"/>
                    <a:pt x="0" y="2471547"/>
                    <a:pt x="0" y="22256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2E9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335167" y="7029450"/>
            <a:ext cx="2011680" cy="32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2D915B"/>
                </a:solidFill>
                <a:latin typeface="Aptos Bold"/>
                <a:ea typeface="Aptos Bold"/>
                <a:cs typeface="Aptos Bold"/>
                <a:sym typeface="Aptos Bold"/>
              </a:rPr>
              <a:t>Key Takeaway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96295" y="6970014"/>
            <a:ext cx="13615868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Combining longitudinal MRI features with clinical context gives the strongest validation result.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805940" y="457200"/>
            <a:ext cx="1559052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Ablation Study Comparison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33372" y="1252728"/>
            <a:ext cx="153162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2049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Validation performance across model configurations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63743" y="1558533"/>
            <a:ext cx="14099104" cy="8115819"/>
            <a:chOff x="0" y="0"/>
            <a:chExt cx="15885300" cy="9144000"/>
          </a:xfrm>
        </p:grpSpPr>
        <p:sp>
          <p:nvSpPr>
            <p:cNvPr id="7" name="Freeform 7" descr="68cbc6d5-dd61-44ee-abb6-1719c1301860.png"/>
            <p:cNvSpPr/>
            <p:nvPr/>
          </p:nvSpPr>
          <p:spPr>
            <a:xfrm>
              <a:off x="0" y="0"/>
              <a:ext cx="15885288" cy="9144000"/>
            </a:xfrm>
            <a:custGeom>
              <a:avLst/>
              <a:gdLst/>
              <a:ahLst/>
              <a:cxnLst/>
              <a:rect l="l" t="t" r="r" b="b"/>
              <a:pathLst>
                <a:path w="15885288" h="9144000">
                  <a:moveTo>
                    <a:pt x="0" y="0"/>
                  </a:moveTo>
                  <a:lnTo>
                    <a:pt x="15885288" y="0"/>
                  </a:lnTo>
                  <a:lnTo>
                    <a:pt x="15885288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14450" y="9674352"/>
            <a:ext cx="15659100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Validation Accuracy and Macro-F1 across the ablation settings.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805940" y="457200"/>
            <a:ext cx="1559052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Longitudinal Siamese Architecture &amp; Case Study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33372" y="1252728"/>
            <a:ext cx="15316200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Shared CNN weights learn temporal feature changes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140" y="1938528"/>
            <a:ext cx="694944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5E6976"/>
                </a:solidFill>
                <a:latin typeface="Aptos Bold"/>
                <a:ea typeface="Aptos Bold"/>
                <a:cs typeface="Aptos Bold"/>
                <a:sym typeface="Aptos Bold"/>
              </a:rPr>
              <a:t>Two MRI time points → shared feature extractor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1556" y="2667476"/>
            <a:ext cx="4609147" cy="1961959"/>
            <a:chOff x="0" y="0"/>
            <a:chExt cx="6145530" cy="26159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45530" cy="2615946"/>
            </a:xfrm>
            <a:custGeom>
              <a:avLst/>
              <a:gdLst/>
              <a:ahLst/>
              <a:cxnLst/>
              <a:rect l="l" t="t" r="r" b="b"/>
              <a:pathLst>
                <a:path w="6145530" h="2615946">
                  <a:moveTo>
                    <a:pt x="0" y="435991"/>
                  </a:moveTo>
                  <a:cubicBezTo>
                    <a:pt x="0" y="195199"/>
                    <a:pt x="195199" y="0"/>
                    <a:pt x="435991" y="0"/>
                  </a:cubicBezTo>
                  <a:lnTo>
                    <a:pt x="5709539" y="0"/>
                  </a:lnTo>
                  <a:cubicBezTo>
                    <a:pt x="5950331" y="0"/>
                    <a:pt x="6145530" y="195199"/>
                    <a:pt x="6145530" y="435991"/>
                  </a:cubicBezTo>
                  <a:lnTo>
                    <a:pt x="6145530" y="2179955"/>
                  </a:lnTo>
                  <a:cubicBezTo>
                    <a:pt x="6145530" y="2420747"/>
                    <a:pt x="5950331" y="2615946"/>
                    <a:pt x="5709539" y="2615946"/>
                  </a:cubicBezTo>
                  <a:lnTo>
                    <a:pt x="435991" y="2615946"/>
                  </a:lnTo>
                  <a:cubicBezTo>
                    <a:pt x="195199" y="2615946"/>
                    <a:pt x="0" y="2420747"/>
                    <a:pt x="0" y="2179955"/>
                  </a:cubicBezTo>
                  <a:close/>
                </a:path>
              </a:pathLst>
            </a:custGeom>
            <a:solidFill>
              <a:srgbClr val="EBF3FB"/>
            </a:solidFill>
            <a:ln w="14288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21556" y="2667476"/>
            <a:ext cx="110300" cy="1961959"/>
            <a:chOff x="0" y="0"/>
            <a:chExt cx="147066" cy="26159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7066" cy="2615946"/>
            </a:xfrm>
            <a:custGeom>
              <a:avLst/>
              <a:gdLst/>
              <a:ahLst/>
              <a:cxnLst/>
              <a:rect l="l" t="t" r="r" b="b"/>
              <a:pathLst>
                <a:path w="147066" h="2615946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555" y="0"/>
                  </a:lnTo>
                  <a:cubicBezTo>
                    <a:pt x="136144" y="0"/>
                    <a:pt x="147066" y="10922"/>
                    <a:pt x="147066" y="24511"/>
                  </a:cubicBezTo>
                  <a:lnTo>
                    <a:pt x="147066" y="2591435"/>
                  </a:lnTo>
                  <a:cubicBezTo>
                    <a:pt x="147066" y="2605024"/>
                    <a:pt x="136144" y="2615946"/>
                    <a:pt x="122555" y="2615946"/>
                  </a:cubicBezTo>
                  <a:lnTo>
                    <a:pt x="24511" y="2615946"/>
                  </a:lnTo>
                  <a:cubicBezTo>
                    <a:pt x="10922" y="2615946"/>
                    <a:pt x="0" y="2605024"/>
                    <a:pt x="0" y="2591435"/>
                  </a:cubicBezTo>
                  <a:close/>
                </a:path>
              </a:pathLst>
            </a:custGeom>
            <a:solidFill>
              <a:srgbClr val="2D68A8"/>
            </a:solidFill>
            <a:ln w="14288" cap="sq">
              <a:solidFill>
                <a:srgbClr val="2D68A8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421892" y="2994660"/>
            <a:ext cx="386334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2D68A8"/>
                </a:solidFill>
                <a:latin typeface="Aptos Bold"/>
                <a:ea typeface="Aptos Bold"/>
                <a:cs typeface="Aptos Bold"/>
                <a:sym typeface="Aptos Bold"/>
              </a:rPr>
              <a:t>Time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1892" y="3639312"/>
            <a:ext cx="386334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B35"/>
                </a:solidFill>
                <a:latin typeface="Aptos"/>
                <a:ea typeface="Aptos"/>
                <a:cs typeface="Aptos"/>
                <a:sym typeface="Aptos"/>
              </a:rPr>
              <a:t>MRI → shared CNN → F₁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31856" y="4972336"/>
            <a:ext cx="4609147" cy="1961959"/>
            <a:chOff x="0" y="0"/>
            <a:chExt cx="6145530" cy="26159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45530" cy="2615946"/>
            </a:xfrm>
            <a:custGeom>
              <a:avLst/>
              <a:gdLst/>
              <a:ahLst/>
              <a:cxnLst/>
              <a:rect l="l" t="t" r="r" b="b"/>
              <a:pathLst>
                <a:path w="6145530" h="2615946">
                  <a:moveTo>
                    <a:pt x="0" y="435991"/>
                  </a:moveTo>
                  <a:cubicBezTo>
                    <a:pt x="0" y="195199"/>
                    <a:pt x="195199" y="0"/>
                    <a:pt x="435991" y="0"/>
                  </a:cubicBezTo>
                  <a:lnTo>
                    <a:pt x="5709539" y="0"/>
                  </a:lnTo>
                  <a:cubicBezTo>
                    <a:pt x="5950331" y="0"/>
                    <a:pt x="6145530" y="195199"/>
                    <a:pt x="6145530" y="435991"/>
                  </a:cubicBezTo>
                  <a:lnTo>
                    <a:pt x="6145530" y="2179955"/>
                  </a:lnTo>
                  <a:cubicBezTo>
                    <a:pt x="6145530" y="2420747"/>
                    <a:pt x="5950331" y="2615946"/>
                    <a:pt x="5709539" y="2615946"/>
                  </a:cubicBezTo>
                  <a:lnTo>
                    <a:pt x="435991" y="2615946"/>
                  </a:lnTo>
                  <a:cubicBezTo>
                    <a:pt x="195199" y="2615946"/>
                    <a:pt x="0" y="2420747"/>
                    <a:pt x="0" y="2179955"/>
                  </a:cubicBezTo>
                  <a:close/>
                </a:path>
              </a:pathLst>
            </a:custGeom>
            <a:solidFill>
              <a:srgbClr val="EBF7F7"/>
            </a:solidFill>
            <a:ln w="14288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21556" y="4958048"/>
            <a:ext cx="110300" cy="1961959"/>
            <a:chOff x="0" y="0"/>
            <a:chExt cx="147066" cy="26159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7066" cy="2615946"/>
            </a:xfrm>
            <a:custGeom>
              <a:avLst/>
              <a:gdLst/>
              <a:ahLst/>
              <a:cxnLst/>
              <a:rect l="l" t="t" r="r" b="b"/>
              <a:pathLst>
                <a:path w="147066" h="2615946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555" y="0"/>
                  </a:lnTo>
                  <a:cubicBezTo>
                    <a:pt x="136144" y="0"/>
                    <a:pt x="147066" y="10922"/>
                    <a:pt x="147066" y="24511"/>
                  </a:cubicBezTo>
                  <a:lnTo>
                    <a:pt x="147066" y="2591435"/>
                  </a:lnTo>
                  <a:cubicBezTo>
                    <a:pt x="147066" y="2605024"/>
                    <a:pt x="136144" y="2615946"/>
                    <a:pt x="122555" y="2615946"/>
                  </a:cubicBezTo>
                  <a:lnTo>
                    <a:pt x="24511" y="2615946"/>
                  </a:lnTo>
                  <a:cubicBezTo>
                    <a:pt x="10922" y="2615946"/>
                    <a:pt x="0" y="2605024"/>
                    <a:pt x="0" y="2591435"/>
                  </a:cubicBezTo>
                  <a:close/>
                </a:path>
              </a:pathLst>
            </a:custGeom>
            <a:solidFill>
              <a:srgbClr val="238589"/>
            </a:solidFill>
            <a:ln w="14288" cap="sq">
              <a:solidFill>
                <a:srgbClr val="238589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421892" y="5285232"/>
            <a:ext cx="386334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238589"/>
                </a:solidFill>
                <a:latin typeface="Aptos Bold"/>
                <a:ea typeface="Aptos Bold"/>
                <a:cs typeface="Aptos Bold"/>
                <a:sym typeface="Aptos Bold"/>
              </a:rPr>
              <a:t>Time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1892" y="5929884"/>
            <a:ext cx="386334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B35"/>
                </a:solidFill>
                <a:latin typeface="Aptos"/>
                <a:ea typeface="Aptos"/>
                <a:cs typeface="Aptos"/>
                <a:sym typeface="Aptos"/>
              </a:rPr>
              <a:t>MRI → shared CNN → F₂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370796" y="3312128"/>
            <a:ext cx="4883468" cy="2894648"/>
            <a:chOff x="0" y="0"/>
            <a:chExt cx="6511290" cy="38595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11290" cy="3859530"/>
            </a:xfrm>
            <a:custGeom>
              <a:avLst/>
              <a:gdLst/>
              <a:ahLst/>
              <a:cxnLst/>
              <a:rect l="l" t="t" r="r" b="b"/>
              <a:pathLst>
                <a:path w="6511290" h="3859530">
                  <a:moveTo>
                    <a:pt x="0" y="643255"/>
                  </a:moveTo>
                  <a:cubicBezTo>
                    <a:pt x="0" y="288036"/>
                    <a:pt x="288036" y="0"/>
                    <a:pt x="643255" y="0"/>
                  </a:cubicBezTo>
                  <a:lnTo>
                    <a:pt x="5868035" y="0"/>
                  </a:lnTo>
                  <a:cubicBezTo>
                    <a:pt x="6223254" y="0"/>
                    <a:pt x="6511290" y="288036"/>
                    <a:pt x="6511290" y="643255"/>
                  </a:cubicBezTo>
                  <a:lnTo>
                    <a:pt x="6511290" y="3216275"/>
                  </a:lnTo>
                  <a:cubicBezTo>
                    <a:pt x="6511290" y="3571494"/>
                    <a:pt x="6223254" y="3859530"/>
                    <a:pt x="5868035" y="3859530"/>
                  </a:cubicBezTo>
                  <a:lnTo>
                    <a:pt x="643255" y="3859530"/>
                  </a:lnTo>
                  <a:cubicBezTo>
                    <a:pt x="288036" y="3859530"/>
                    <a:pt x="0" y="3571494"/>
                    <a:pt x="0" y="3216275"/>
                  </a:cubicBezTo>
                  <a:close/>
                </a:path>
              </a:pathLst>
            </a:custGeom>
            <a:solidFill>
              <a:srgbClr val="FCF6E7"/>
            </a:solidFill>
            <a:ln w="14288" cap="sq">
              <a:solidFill>
                <a:srgbClr val="EAD39F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6812280" y="3776472"/>
            <a:ext cx="400050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CF8E2E"/>
                </a:solidFill>
                <a:latin typeface="Aptos Bold"/>
                <a:ea typeface="Aptos Bold"/>
                <a:cs typeface="Aptos Bold"/>
                <a:sym typeface="Aptos Bold"/>
              </a:rPr>
              <a:t>Temporal Difference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12280" y="4512945"/>
            <a:ext cx="40005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ΔF = F₂ − F₁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12280" y="5394960"/>
            <a:ext cx="4000500" cy="32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captures feature change over time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925776" y="2667476"/>
            <a:ext cx="5294947" cy="4197668"/>
            <a:chOff x="0" y="0"/>
            <a:chExt cx="7059930" cy="55968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59930" cy="5596890"/>
            </a:xfrm>
            <a:custGeom>
              <a:avLst/>
              <a:gdLst/>
              <a:ahLst/>
              <a:cxnLst/>
              <a:rect l="l" t="t" r="r" b="b"/>
              <a:pathLst>
                <a:path w="7059930" h="5596890">
                  <a:moveTo>
                    <a:pt x="0" y="932815"/>
                  </a:moveTo>
                  <a:cubicBezTo>
                    <a:pt x="0" y="417703"/>
                    <a:pt x="417703" y="0"/>
                    <a:pt x="932815" y="0"/>
                  </a:cubicBezTo>
                  <a:lnTo>
                    <a:pt x="6127115" y="0"/>
                  </a:lnTo>
                  <a:cubicBezTo>
                    <a:pt x="6642354" y="0"/>
                    <a:pt x="7059930" y="417703"/>
                    <a:pt x="7059930" y="932815"/>
                  </a:cubicBezTo>
                  <a:lnTo>
                    <a:pt x="7059930" y="4664075"/>
                  </a:lnTo>
                  <a:cubicBezTo>
                    <a:pt x="7059930" y="5179314"/>
                    <a:pt x="6642227" y="5596890"/>
                    <a:pt x="6127115" y="5596890"/>
                  </a:cubicBezTo>
                  <a:lnTo>
                    <a:pt x="932815" y="5596890"/>
                  </a:lnTo>
                  <a:cubicBezTo>
                    <a:pt x="417703" y="5596890"/>
                    <a:pt x="0" y="5179187"/>
                    <a:pt x="0" y="4664075"/>
                  </a:cubicBezTo>
                  <a:close/>
                </a:path>
              </a:pathLst>
            </a:custGeom>
            <a:solidFill>
              <a:srgbClr val="EBF8F0"/>
            </a:solidFill>
            <a:ln w="14288" cap="sq">
              <a:solidFill>
                <a:srgbClr val="DCE2E9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1925776" y="2667476"/>
            <a:ext cx="110300" cy="4197668"/>
            <a:chOff x="0" y="0"/>
            <a:chExt cx="147066" cy="559689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7066" cy="5596890"/>
            </a:xfrm>
            <a:custGeom>
              <a:avLst/>
              <a:gdLst/>
              <a:ahLst/>
              <a:cxnLst/>
              <a:rect l="l" t="t" r="r" b="b"/>
              <a:pathLst>
                <a:path w="147066" h="5596890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555" y="0"/>
                  </a:lnTo>
                  <a:cubicBezTo>
                    <a:pt x="136144" y="0"/>
                    <a:pt x="147066" y="10922"/>
                    <a:pt x="147066" y="24511"/>
                  </a:cubicBezTo>
                  <a:lnTo>
                    <a:pt x="147066" y="5572379"/>
                  </a:lnTo>
                  <a:cubicBezTo>
                    <a:pt x="147066" y="5585968"/>
                    <a:pt x="136144" y="5596890"/>
                    <a:pt x="122555" y="5596890"/>
                  </a:cubicBezTo>
                  <a:lnTo>
                    <a:pt x="24511" y="5596890"/>
                  </a:lnTo>
                  <a:cubicBezTo>
                    <a:pt x="10922" y="5596890"/>
                    <a:pt x="0" y="5585968"/>
                    <a:pt x="0" y="5572379"/>
                  </a:cubicBezTo>
                  <a:close/>
                </a:path>
              </a:pathLst>
            </a:custGeom>
            <a:solidFill>
              <a:srgbClr val="2D915B"/>
            </a:solidFill>
            <a:ln w="14288" cap="sq">
              <a:solidFill>
                <a:srgbClr val="2D915B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2326112" y="2994660"/>
            <a:ext cx="454914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2D915B"/>
                </a:solidFill>
                <a:latin typeface="Aptos Bold"/>
                <a:ea typeface="Aptos Bold"/>
                <a:cs typeface="Aptos Bold"/>
                <a:sym typeface="Aptos Bold"/>
              </a:rPr>
              <a:t>Patient 100183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6112" y="3639312"/>
            <a:ext cx="4549140" cy="2967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B35"/>
                </a:solidFill>
                <a:latin typeface="Aptos"/>
                <a:ea typeface="Aptos"/>
                <a:cs typeface="Aptos"/>
                <a:sym typeface="Aptos"/>
              </a:rPr>
              <a:t>True: Increased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B35"/>
                </a:solidFill>
                <a:latin typeface="Aptos"/>
                <a:ea typeface="Aptos"/>
                <a:cs typeface="Aptos"/>
                <a:sym typeface="Aptos"/>
              </a:rPr>
              <a:t>Predicted: Increased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B35"/>
                </a:solidFill>
                <a:latin typeface="Aptos"/>
                <a:ea typeface="Aptos"/>
                <a:cs typeface="Aptos"/>
                <a:sym typeface="Aptos"/>
              </a:rPr>
              <a:t>Probability: 0.671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24360" y="7424928"/>
            <a:ext cx="2560320" cy="34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2D68A8"/>
                </a:solidFill>
                <a:latin typeface="Aptos Bold"/>
                <a:ea typeface="Aptos Bold"/>
                <a:cs typeface="Aptos Bold"/>
                <a:sym typeface="Aptos Bold"/>
              </a:rPr>
              <a:t>Explainability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24360" y="7973568"/>
            <a:ext cx="4960620" cy="896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32B35"/>
                </a:solidFill>
                <a:latin typeface="Aptos"/>
                <a:ea typeface="Aptos"/>
                <a:cs typeface="Aptos"/>
                <a:sym typeface="Aptos"/>
              </a:rPr>
              <a:t>Grad-CAM shows which spatial regions support the temporal prediction.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805940" y="457200"/>
            <a:ext cx="1559052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Patient 100183 Attention Visualization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33372" y="1252728"/>
            <a:ext cx="15316200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MRI inputs and Grad-CAM explanations at Time 1 and Time 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3520" y="1678686"/>
            <a:ext cx="8751620" cy="7579614"/>
            <a:chOff x="0" y="0"/>
            <a:chExt cx="10854302" cy="9400707"/>
          </a:xfrm>
        </p:grpSpPr>
        <p:sp>
          <p:nvSpPr>
            <p:cNvPr id="7" name="Freeform 7" descr="46226004-6865-4769-8142-84f1ea62732a.png"/>
            <p:cNvSpPr/>
            <p:nvPr/>
          </p:nvSpPr>
          <p:spPr>
            <a:xfrm>
              <a:off x="0" y="0"/>
              <a:ext cx="10854239" cy="9400708"/>
            </a:xfrm>
            <a:custGeom>
              <a:avLst/>
              <a:gdLst/>
              <a:ahLst/>
              <a:cxnLst/>
              <a:rect l="l" t="t" r="r" b="b"/>
              <a:pathLst>
                <a:path w="10854239" h="9400708">
                  <a:moveTo>
                    <a:pt x="0" y="0"/>
                  </a:moveTo>
                  <a:lnTo>
                    <a:pt x="10854239" y="0"/>
                  </a:lnTo>
                  <a:lnTo>
                    <a:pt x="10854239" y="9400708"/>
                  </a:lnTo>
                  <a:lnTo>
                    <a:pt x="0" y="9400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617" b="-10617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14450" y="9541669"/>
            <a:ext cx="15659100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True: Increased  •  Predicted: Increased  •  Probability: 0.671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506" y="9315450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805940" y="457200"/>
            <a:ext cx="1559052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Explainability Innovation — Solving the Zero-Map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33372" y="1252728"/>
            <a:ext cx="15316200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Standard Grad-CAM versus Signed Grad-CAM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8720" y="1938528"/>
            <a:ext cx="256032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B83F3F"/>
                </a:solidFill>
                <a:latin typeface="Aptos Bold"/>
                <a:ea typeface="Aptos Bold"/>
                <a:cs typeface="Aptos Bold"/>
                <a:sym typeface="Aptos Bold"/>
              </a:rPr>
              <a:t>The Problem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0136" y="2598896"/>
            <a:ext cx="7626668" cy="5253800"/>
            <a:chOff x="0" y="0"/>
            <a:chExt cx="10168890" cy="70050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8890" cy="7005066"/>
            </a:xfrm>
            <a:custGeom>
              <a:avLst/>
              <a:gdLst/>
              <a:ahLst/>
              <a:cxnLst/>
              <a:rect l="l" t="t" r="r" b="b"/>
              <a:pathLst>
                <a:path w="10168890" h="7005066">
                  <a:moveTo>
                    <a:pt x="0" y="1167511"/>
                  </a:moveTo>
                  <a:cubicBezTo>
                    <a:pt x="0" y="522732"/>
                    <a:pt x="522732" y="0"/>
                    <a:pt x="1167511" y="0"/>
                  </a:cubicBezTo>
                  <a:lnTo>
                    <a:pt x="9001379" y="0"/>
                  </a:lnTo>
                  <a:cubicBezTo>
                    <a:pt x="9646158" y="0"/>
                    <a:pt x="10168890" y="522732"/>
                    <a:pt x="10168890" y="1167511"/>
                  </a:cubicBezTo>
                  <a:lnTo>
                    <a:pt x="10168890" y="5837555"/>
                  </a:lnTo>
                  <a:cubicBezTo>
                    <a:pt x="10168890" y="6482334"/>
                    <a:pt x="9646158" y="7005066"/>
                    <a:pt x="9001379" y="7005066"/>
                  </a:cubicBezTo>
                  <a:lnTo>
                    <a:pt x="1167511" y="7005066"/>
                  </a:lnTo>
                  <a:cubicBezTo>
                    <a:pt x="522732" y="7005066"/>
                    <a:pt x="0" y="6482334"/>
                    <a:pt x="0" y="5837555"/>
                  </a:cubicBezTo>
                  <a:close/>
                </a:path>
              </a:pathLst>
            </a:custGeom>
            <a:solidFill>
              <a:srgbClr val="FDF0F0"/>
            </a:solidFill>
            <a:ln w="14288" cap="sq">
              <a:solidFill>
                <a:srgbClr val="EBC5C5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600200" y="3118104"/>
            <a:ext cx="6606540" cy="484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1">
                <a:solidFill>
                  <a:srgbClr val="B83F3F"/>
                </a:solidFill>
                <a:latin typeface="Aptos Bold"/>
                <a:ea typeface="Aptos Bold"/>
                <a:cs typeface="Aptos Bold"/>
                <a:sym typeface="Aptos Bold"/>
              </a:rPr>
              <a:t>Standard Grad-CAM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7360" y="4160520"/>
            <a:ext cx="6332220" cy="162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B35"/>
                </a:solidFill>
                <a:latin typeface="Aptos"/>
                <a:ea typeface="Aptos"/>
                <a:cs typeface="Aptos"/>
                <a:sym typeface="Aptos"/>
              </a:rPr>
              <a:t>• Discards negative evidence through ReLU.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B35"/>
                </a:solidFill>
                <a:latin typeface="Aptos"/>
                <a:ea typeface="Aptos"/>
                <a:cs typeface="Aptos"/>
                <a:sym typeface="Aptos"/>
              </a:rPr>
              <a:t>• Can produce empty / zero maps in subtraction networks.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68780" y="6519672"/>
            <a:ext cx="6469380" cy="566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B83F3F"/>
                </a:solidFill>
                <a:latin typeface="Aptos Bold"/>
                <a:ea typeface="Aptos Bold"/>
                <a:cs typeface="Aptos Bold"/>
                <a:sym typeface="Aptos Bold"/>
              </a:rPr>
              <a:t>Max = 0.0000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68780" y="7274052"/>
            <a:ext cx="6469380" cy="32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Negative attribution is lost.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25476" y="2598896"/>
            <a:ext cx="7626668" cy="5253800"/>
            <a:chOff x="0" y="0"/>
            <a:chExt cx="10168890" cy="70050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8890" cy="7005066"/>
            </a:xfrm>
            <a:custGeom>
              <a:avLst/>
              <a:gdLst/>
              <a:ahLst/>
              <a:cxnLst/>
              <a:rect l="l" t="t" r="r" b="b"/>
              <a:pathLst>
                <a:path w="10168890" h="7005066">
                  <a:moveTo>
                    <a:pt x="0" y="1167511"/>
                  </a:moveTo>
                  <a:cubicBezTo>
                    <a:pt x="0" y="522732"/>
                    <a:pt x="522732" y="0"/>
                    <a:pt x="1167511" y="0"/>
                  </a:cubicBezTo>
                  <a:lnTo>
                    <a:pt x="9001379" y="0"/>
                  </a:lnTo>
                  <a:cubicBezTo>
                    <a:pt x="9646158" y="0"/>
                    <a:pt x="10168890" y="522732"/>
                    <a:pt x="10168890" y="1167511"/>
                  </a:cubicBezTo>
                  <a:lnTo>
                    <a:pt x="10168890" y="5837555"/>
                  </a:lnTo>
                  <a:cubicBezTo>
                    <a:pt x="10168890" y="6482334"/>
                    <a:pt x="9646158" y="7005066"/>
                    <a:pt x="9001379" y="7005066"/>
                  </a:cubicBezTo>
                  <a:lnTo>
                    <a:pt x="1167511" y="7005066"/>
                  </a:lnTo>
                  <a:cubicBezTo>
                    <a:pt x="522732" y="7005066"/>
                    <a:pt x="0" y="6482334"/>
                    <a:pt x="0" y="5837555"/>
                  </a:cubicBezTo>
                  <a:close/>
                </a:path>
              </a:pathLst>
            </a:custGeom>
            <a:solidFill>
              <a:srgbClr val="EBF8F0"/>
            </a:solidFill>
            <a:ln w="14288" cap="sq">
              <a:solidFill>
                <a:srgbClr val="BEDECA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0035540" y="3118104"/>
            <a:ext cx="6606540" cy="484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1">
                <a:solidFill>
                  <a:srgbClr val="2D915B"/>
                </a:solidFill>
                <a:latin typeface="Aptos Bold"/>
                <a:ea typeface="Aptos Bold"/>
                <a:cs typeface="Aptos Bold"/>
                <a:sym typeface="Aptos Bold"/>
              </a:rPr>
              <a:t>Signed Grad-CAM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72700" y="4160520"/>
            <a:ext cx="6332220" cy="162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B35"/>
                </a:solidFill>
                <a:latin typeface="Aptos"/>
                <a:ea typeface="Aptos"/>
                <a:cs typeface="Aptos"/>
                <a:sym typeface="Aptos"/>
              </a:rPr>
              <a:t>• Preserves positive and negative contributions.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B35"/>
                </a:solidFill>
                <a:latin typeface="Aptos"/>
                <a:ea typeface="Aptos"/>
                <a:cs typeface="Aptos"/>
                <a:sym typeface="Aptos"/>
              </a:rPr>
              <a:t>• Keeps informative attribution in subtraction networks.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66960" y="6519672"/>
            <a:ext cx="6743700" cy="566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2D915B"/>
                </a:solidFill>
                <a:latin typeface="Aptos Bold"/>
                <a:ea typeface="Aptos Bold"/>
                <a:cs typeface="Aptos Bold"/>
                <a:sym typeface="Aptos Bold"/>
              </a:rPr>
              <a:t>Max = 1.0000 / 0.5622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35540" y="7274052"/>
            <a:ext cx="6606540" cy="32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Richer spatial evidence is preserved.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804636" y="8332184"/>
            <a:ext cx="12701588" cy="864680"/>
            <a:chOff x="0" y="0"/>
            <a:chExt cx="16935450" cy="11529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935450" cy="1152906"/>
            </a:xfrm>
            <a:custGeom>
              <a:avLst/>
              <a:gdLst/>
              <a:ahLst/>
              <a:cxnLst/>
              <a:rect l="l" t="t" r="r" b="b"/>
              <a:pathLst>
                <a:path w="16935450" h="1152906">
                  <a:moveTo>
                    <a:pt x="0" y="192151"/>
                  </a:moveTo>
                  <a:cubicBezTo>
                    <a:pt x="0" y="85979"/>
                    <a:pt x="85979" y="0"/>
                    <a:pt x="192151" y="0"/>
                  </a:cubicBezTo>
                  <a:lnTo>
                    <a:pt x="16743299" y="0"/>
                  </a:lnTo>
                  <a:cubicBezTo>
                    <a:pt x="16849471" y="0"/>
                    <a:pt x="16935450" y="85979"/>
                    <a:pt x="16935450" y="192151"/>
                  </a:cubicBezTo>
                  <a:lnTo>
                    <a:pt x="16935450" y="960755"/>
                  </a:lnTo>
                  <a:cubicBezTo>
                    <a:pt x="16935450" y="1066927"/>
                    <a:pt x="16849471" y="1152906"/>
                    <a:pt x="16743299" y="1152906"/>
                  </a:cubicBezTo>
                  <a:lnTo>
                    <a:pt x="192151" y="1152906"/>
                  </a:lnTo>
                  <a:cubicBezTo>
                    <a:pt x="85979" y="1152906"/>
                    <a:pt x="0" y="1066927"/>
                    <a:pt x="0" y="9607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2E9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3177540" y="8549640"/>
            <a:ext cx="11955780" cy="32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Value: more complete and clinically trustworthy spatial attribution.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945672" y="387620"/>
            <a:ext cx="1559052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Signed Grad-CAM QC Comparison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80260" y="1123856"/>
            <a:ext cx="153162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1">
                <a:solidFill>
                  <a:srgbClr val="5E6976"/>
                </a:solidFill>
                <a:latin typeface="Aptos Bold"/>
                <a:ea typeface="Aptos Bold"/>
                <a:cs typeface="Aptos Bold"/>
                <a:sym typeface="Aptos Bold"/>
              </a:rPr>
              <a:t>Standard Grad-CAM zero maps versus informative signed attributions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171772" y="2094790"/>
            <a:ext cx="11349554" cy="7559680"/>
            <a:chOff x="0" y="0"/>
            <a:chExt cx="14627891" cy="9743306"/>
          </a:xfrm>
        </p:grpSpPr>
        <p:sp>
          <p:nvSpPr>
            <p:cNvPr id="7" name="Freeform 7" descr="b4798917-a4c4-4648-bca5-ccff06102d74.png"/>
            <p:cNvSpPr/>
            <p:nvPr/>
          </p:nvSpPr>
          <p:spPr>
            <a:xfrm>
              <a:off x="0" y="0"/>
              <a:ext cx="14627845" cy="9743306"/>
            </a:xfrm>
            <a:custGeom>
              <a:avLst/>
              <a:gdLst/>
              <a:ahLst/>
              <a:cxnLst/>
              <a:rect l="l" t="t" r="r" b="b"/>
              <a:pathLst>
                <a:path w="14627845" h="9743306">
                  <a:moveTo>
                    <a:pt x="0" y="0"/>
                  </a:moveTo>
                  <a:lnTo>
                    <a:pt x="14627845" y="0"/>
                  </a:lnTo>
                  <a:lnTo>
                    <a:pt x="14627845" y="9743306"/>
                  </a:lnTo>
                  <a:lnTo>
                    <a:pt x="0" y="9743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276" b="-627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257300" y="9029700"/>
            <a:ext cx="15796260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Signed Grad-CAM preserves informative attribution where standard Grad-CAM can collapse to zero.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5238" y="9578270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8992" y="882396"/>
            <a:ext cx="1559052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Attention-Based Improvement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6424" y="1650492"/>
            <a:ext cx="1615287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Mean slice pooling was replaced so informative MRI slices could receive more weight.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17568" y="2667476"/>
            <a:ext cx="6392228" cy="5294947"/>
            <a:chOff x="0" y="0"/>
            <a:chExt cx="8522970" cy="70599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22970" cy="7059930"/>
            </a:xfrm>
            <a:custGeom>
              <a:avLst/>
              <a:gdLst/>
              <a:ahLst/>
              <a:cxnLst/>
              <a:rect l="l" t="t" r="r" b="b"/>
              <a:pathLst>
                <a:path w="8522970" h="7059930">
                  <a:moveTo>
                    <a:pt x="0" y="1176655"/>
                  </a:moveTo>
                  <a:cubicBezTo>
                    <a:pt x="0" y="526796"/>
                    <a:pt x="526796" y="0"/>
                    <a:pt x="1176655" y="0"/>
                  </a:cubicBezTo>
                  <a:lnTo>
                    <a:pt x="7346315" y="0"/>
                  </a:lnTo>
                  <a:cubicBezTo>
                    <a:pt x="7996174" y="0"/>
                    <a:pt x="8522970" y="526796"/>
                    <a:pt x="8522970" y="1176655"/>
                  </a:cubicBezTo>
                  <a:lnTo>
                    <a:pt x="8522970" y="5883275"/>
                  </a:lnTo>
                  <a:cubicBezTo>
                    <a:pt x="8522970" y="6533134"/>
                    <a:pt x="7996174" y="7059930"/>
                    <a:pt x="7346315" y="7059930"/>
                  </a:cubicBezTo>
                  <a:lnTo>
                    <a:pt x="1176655" y="7059930"/>
                  </a:lnTo>
                  <a:cubicBezTo>
                    <a:pt x="526796" y="7059930"/>
                    <a:pt x="0" y="6533134"/>
                    <a:pt x="0" y="5883275"/>
                  </a:cubicBezTo>
                  <a:close/>
                </a:path>
              </a:pathLst>
            </a:custGeom>
            <a:solidFill>
              <a:srgbClr val="E5EF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668780" y="3141345"/>
            <a:ext cx="530352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b="1">
                <a:solidFill>
                  <a:srgbClr val="466FAE"/>
                </a:solidFill>
                <a:latin typeface="Aptos Bold"/>
                <a:ea typeface="Aptos Bold"/>
                <a:cs typeface="Aptos Bold"/>
                <a:sym typeface="Aptos Bold"/>
              </a:rPr>
              <a:t>BEFORE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48332" y="3776472"/>
            <a:ext cx="414441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Mean Slice Pooling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05940" y="4681728"/>
            <a:ext cx="502920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All slices contribute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approximately equally.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66208" y="6192488"/>
            <a:ext cx="590360" cy="590360"/>
            <a:chOff x="0" y="0"/>
            <a:chExt cx="787146" cy="7871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7146" cy="787146"/>
            </a:xfrm>
            <a:custGeom>
              <a:avLst/>
              <a:gdLst/>
              <a:ahLst/>
              <a:cxnLst/>
              <a:rect l="l" t="t" r="r" b="b"/>
              <a:pathLst>
                <a:path w="787146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655955" y="0"/>
                  </a:lnTo>
                  <a:cubicBezTo>
                    <a:pt x="728472" y="0"/>
                    <a:pt x="787146" y="58674"/>
                    <a:pt x="787146" y="131191"/>
                  </a:cubicBezTo>
                  <a:lnTo>
                    <a:pt x="787146" y="655955"/>
                  </a:lnTo>
                  <a:cubicBezTo>
                    <a:pt x="787146" y="728472"/>
                    <a:pt x="728472" y="787146"/>
                    <a:pt x="655955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2434304" y="6192488"/>
            <a:ext cx="590360" cy="590360"/>
            <a:chOff x="0" y="0"/>
            <a:chExt cx="787146" cy="7871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7146" cy="787146"/>
            </a:xfrm>
            <a:custGeom>
              <a:avLst/>
              <a:gdLst/>
              <a:ahLst/>
              <a:cxnLst/>
              <a:rect l="l" t="t" r="r" b="b"/>
              <a:pathLst>
                <a:path w="787146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655955" y="0"/>
                  </a:lnTo>
                  <a:cubicBezTo>
                    <a:pt x="728472" y="0"/>
                    <a:pt x="787146" y="58674"/>
                    <a:pt x="787146" y="131191"/>
                  </a:cubicBezTo>
                  <a:lnTo>
                    <a:pt x="787146" y="655955"/>
                  </a:lnTo>
                  <a:cubicBezTo>
                    <a:pt x="787146" y="728472"/>
                    <a:pt x="728472" y="787146"/>
                    <a:pt x="655955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202400" y="6192488"/>
            <a:ext cx="590360" cy="590360"/>
            <a:chOff x="0" y="0"/>
            <a:chExt cx="787146" cy="7871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7146" cy="787146"/>
            </a:xfrm>
            <a:custGeom>
              <a:avLst/>
              <a:gdLst/>
              <a:ahLst/>
              <a:cxnLst/>
              <a:rect l="l" t="t" r="r" b="b"/>
              <a:pathLst>
                <a:path w="787146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655955" y="0"/>
                  </a:lnTo>
                  <a:cubicBezTo>
                    <a:pt x="728472" y="0"/>
                    <a:pt x="787146" y="58674"/>
                    <a:pt x="787146" y="131191"/>
                  </a:cubicBezTo>
                  <a:lnTo>
                    <a:pt x="787146" y="655955"/>
                  </a:lnTo>
                  <a:cubicBezTo>
                    <a:pt x="787146" y="728472"/>
                    <a:pt x="728472" y="787146"/>
                    <a:pt x="655955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970496" y="6192488"/>
            <a:ext cx="590360" cy="590360"/>
            <a:chOff x="0" y="0"/>
            <a:chExt cx="787146" cy="7871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87146" cy="787146"/>
            </a:xfrm>
            <a:custGeom>
              <a:avLst/>
              <a:gdLst/>
              <a:ahLst/>
              <a:cxnLst/>
              <a:rect l="l" t="t" r="r" b="b"/>
              <a:pathLst>
                <a:path w="787146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655955" y="0"/>
                  </a:lnTo>
                  <a:cubicBezTo>
                    <a:pt x="728472" y="0"/>
                    <a:pt x="787146" y="58674"/>
                    <a:pt x="787146" y="131191"/>
                  </a:cubicBezTo>
                  <a:lnTo>
                    <a:pt x="787146" y="655955"/>
                  </a:lnTo>
                  <a:cubicBezTo>
                    <a:pt x="787146" y="728472"/>
                    <a:pt x="728472" y="787146"/>
                    <a:pt x="655955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738592" y="6192488"/>
            <a:ext cx="590360" cy="590360"/>
            <a:chOff x="0" y="0"/>
            <a:chExt cx="787146" cy="78714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7146" cy="787146"/>
            </a:xfrm>
            <a:custGeom>
              <a:avLst/>
              <a:gdLst/>
              <a:ahLst/>
              <a:cxnLst/>
              <a:rect l="l" t="t" r="r" b="b"/>
              <a:pathLst>
                <a:path w="787146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655955" y="0"/>
                  </a:lnTo>
                  <a:cubicBezTo>
                    <a:pt x="728472" y="0"/>
                    <a:pt x="787146" y="58674"/>
                    <a:pt x="787146" y="131191"/>
                  </a:cubicBezTo>
                  <a:lnTo>
                    <a:pt x="787146" y="655955"/>
                  </a:lnTo>
                  <a:cubicBezTo>
                    <a:pt x="787146" y="728472"/>
                    <a:pt x="728472" y="787146"/>
                    <a:pt x="655955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506688" y="6192488"/>
            <a:ext cx="590360" cy="590360"/>
            <a:chOff x="0" y="0"/>
            <a:chExt cx="787146" cy="7871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87146" cy="787146"/>
            </a:xfrm>
            <a:custGeom>
              <a:avLst/>
              <a:gdLst/>
              <a:ahLst/>
              <a:cxnLst/>
              <a:rect l="l" t="t" r="r" b="b"/>
              <a:pathLst>
                <a:path w="787146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655955" y="0"/>
                  </a:lnTo>
                  <a:cubicBezTo>
                    <a:pt x="728472" y="0"/>
                    <a:pt x="787146" y="58674"/>
                    <a:pt x="787146" y="131191"/>
                  </a:cubicBezTo>
                  <a:lnTo>
                    <a:pt x="787146" y="655955"/>
                  </a:lnTo>
                  <a:cubicBezTo>
                    <a:pt x="787146" y="728472"/>
                    <a:pt x="728472" y="787146"/>
                    <a:pt x="655955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840980" y="4366260"/>
            <a:ext cx="146304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662636" y="2667476"/>
            <a:ext cx="7352347" cy="5294947"/>
            <a:chOff x="0" y="0"/>
            <a:chExt cx="9803130" cy="705993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803130" cy="7059930"/>
            </a:xfrm>
            <a:custGeom>
              <a:avLst/>
              <a:gdLst/>
              <a:ahLst/>
              <a:cxnLst/>
              <a:rect l="l" t="t" r="r" b="b"/>
              <a:pathLst>
                <a:path w="9803130" h="7059930">
                  <a:moveTo>
                    <a:pt x="0" y="1176655"/>
                  </a:moveTo>
                  <a:cubicBezTo>
                    <a:pt x="0" y="526796"/>
                    <a:pt x="526796" y="0"/>
                    <a:pt x="1176655" y="0"/>
                  </a:cubicBezTo>
                  <a:lnTo>
                    <a:pt x="8626475" y="0"/>
                  </a:lnTo>
                  <a:cubicBezTo>
                    <a:pt x="9276334" y="0"/>
                    <a:pt x="9803130" y="526796"/>
                    <a:pt x="9803130" y="1176655"/>
                  </a:cubicBezTo>
                  <a:lnTo>
                    <a:pt x="9803130" y="5883275"/>
                  </a:lnTo>
                  <a:cubicBezTo>
                    <a:pt x="9803130" y="6533134"/>
                    <a:pt x="9276334" y="7059930"/>
                    <a:pt x="8626475" y="7059930"/>
                  </a:cubicBezTo>
                  <a:lnTo>
                    <a:pt x="1176655" y="7059930"/>
                  </a:lnTo>
                  <a:cubicBezTo>
                    <a:pt x="526796" y="7059930"/>
                    <a:pt x="0" y="6533134"/>
                    <a:pt x="0" y="5883275"/>
                  </a:cubicBezTo>
                  <a:close/>
                </a:path>
              </a:pathLst>
            </a:custGeom>
            <a:solidFill>
              <a:srgbClr val="E2F4E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0241280" y="3131820"/>
            <a:ext cx="619506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AFTER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48097" y="3776472"/>
            <a:ext cx="4981426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Attention Slice Pooling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78440" y="4691253"/>
            <a:ext cx="592074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Important slices receive</a:t>
            </a:r>
          </a:p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higher learned weights.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279856" y="5959316"/>
            <a:ext cx="672656" cy="590360"/>
            <a:chOff x="0" y="0"/>
            <a:chExt cx="896874" cy="78714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96874" cy="787146"/>
            </a:xfrm>
            <a:custGeom>
              <a:avLst/>
              <a:gdLst/>
              <a:ahLst/>
              <a:cxnLst/>
              <a:rect l="l" t="t" r="r" b="b"/>
              <a:pathLst>
                <a:path w="896874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765683" y="0"/>
                  </a:lnTo>
                  <a:cubicBezTo>
                    <a:pt x="838200" y="0"/>
                    <a:pt x="896874" y="58674"/>
                    <a:pt x="896874" y="131191"/>
                  </a:cubicBezTo>
                  <a:lnTo>
                    <a:pt x="896874" y="655955"/>
                  </a:lnTo>
                  <a:cubicBezTo>
                    <a:pt x="896874" y="728472"/>
                    <a:pt x="838200" y="787146"/>
                    <a:pt x="765683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0287000" y="5966460"/>
            <a:ext cx="164592" cy="576072"/>
            <a:chOff x="0" y="0"/>
            <a:chExt cx="219456" cy="7680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9456" cy="768096"/>
            </a:xfrm>
            <a:custGeom>
              <a:avLst/>
              <a:gdLst/>
              <a:ahLst/>
              <a:cxnLst/>
              <a:rect l="l" t="t" r="r" b="b"/>
              <a:pathLst>
                <a:path w="219456" h="768096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82880" y="0"/>
                  </a:lnTo>
                  <a:cubicBezTo>
                    <a:pt x="203073" y="0"/>
                    <a:pt x="219456" y="16383"/>
                    <a:pt x="219456" y="36576"/>
                  </a:cubicBezTo>
                  <a:lnTo>
                    <a:pt x="219456" y="731520"/>
                  </a:lnTo>
                  <a:cubicBezTo>
                    <a:pt x="219456" y="751713"/>
                    <a:pt x="203073" y="768096"/>
                    <a:pt x="182880" y="768096"/>
                  </a:cubicBezTo>
                  <a:lnTo>
                    <a:pt x="36576" y="768096"/>
                  </a:lnTo>
                  <a:cubicBezTo>
                    <a:pt x="16383" y="768096"/>
                    <a:pt x="0" y="751713"/>
                    <a:pt x="0" y="731520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1267408" y="5959316"/>
            <a:ext cx="672656" cy="590360"/>
            <a:chOff x="0" y="0"/>
            <a:chExt cx="896874" cy="78714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96874" cy="787146"/>
            </a:xfrm>
            <a:custGeom>
              <a:avLst/>
              <a:gdLst/>
              <a:ahLst/>
              <a:cxnLst/>
              <a:rect l="l" t="t" r="r" b="b"/>
              <a:pathLst>
                <a:path w="896874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765683" y="0"/>
                  </a:lnTo>
                  <a:cubicBezTo>
                    <a:pt x="838200" y="0"/>
                    <a:pt x="896874" y="58674"/>
                    <a:pt x="896874" y="131191"/>
                  </a:cubicBezTo>
                  <a:lnTo>
                    <a:pt x="896874" y="655955"/>
                  </a:lnTo>
                  <a:cubicBezTo>
                    <a:pt x="896874" y="728472"/>
                    <a:pt x="838200" y="787146"/>
                    <a:pt x="765683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1274552" y="5966460"/>
            <a:ext cx="276511" cy="576072"/>
            <a:chOff x="0" y="0"/>
            <a:chExt cx="368681" cy="7680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68681" cy="768096"/>
            </a:xfrm>
            <a:custGeom>
              <a:avLst/>
              <a:gdLst/>
              <a:ahLst/>
              <a:cxnLst/>
              <a:rect l="l" t="t" r="r" b="b"/>
              <a:pathLst>
                <a:path w="368681" h="768096">
                  <a:moveTo>
                    <a:pt x="0" y="61468"/>
                  </a:moveTo>
                  <a:cubicBezTo>
                    <a:pt x="0" y="27559"/>
                    <a:pt x="27559" y="0"/>
                    <a:pt x="61468" y="0"/>
                  </a:cubicBezTo>
                  <a:lnTo>
                    <a:pt x="307213" y="0"/>
                  </a:lnTo>
                  <a:cubicBezTo>
                    <a:pt x="341122" y="0"/>
                    <a:pt x="368681" y="27559"/>
                    <a:pt x="368681" y="61468"/>
                  </a:cubicBezTo>
                  <a:lnTo>
                    <a:pt x="368681" y="706628"/>
                  </a:lnTo>
                  <a:cubicBezTo>
                    <a:pt x="368681" y="740537"/>
                    <a:pt x="341122" y="768096"/>
                    <a:pt x="307213" y="768096"/>
                  </a:cubicBezTo>
                  <a:lnTo>
                    <a:pt x="61468" y="768096"/>
                  </a:lnTo>
                  <a:cubicBezTo>
                    <a:pt x="27559" y="768096"/>
                    <a:pt x="0" y="740537"/>
                    <a:pt x="0" y="706628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2254960" y="5959316"/>
            <a:ext cx="672656" cy="590360"/>
            <a:chOff x="0" y="0"/>
            <a:chExt cx="896874" cy="78714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96874" cy="787146"/>
            </a:xfrm>
            <a:custGeom>
              <a:avLst/>
              <a:gdLst/>
              <a:ahLst/>
              <a:cxnLst/>
              <a:rect l="l" t="t" r="r" b="b"/>
              <a:pathLst>
                <a:path w="896874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765683" y="0"/>
                  </a:lnTo>
                  <a:cubicBezTo>
                    <a:pt x="838200" y="0"/>
                    <a:pt x="896874" y="58674"/>
                    <a:pt x="896874" y="131191"/>
                  </a:cubicBezTo>
                  <a:lnTo>
                    <a:pt x="896874" y="655955"/>
                  </a:lnTo>
                  <a:cubicBezTo>
                    <a:pt x="896874" y="728472"/>
                    <a:pt x="838200" y="787146"/>
                    <a:pt x="765683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2262104" y="5966460"/>
            <a:ext cx="408184" cy="576072"/>
            <a:chOff x="0" y="0"/>
            <a:chExt cx="544246" cy="76809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4195" cy="768096"/>
            </a:xfrm>
            <a:custGeom>
              <a:avLst/>
              <a:gdLst/>
              <a:ahLst/>
              <a:cxnLst/>
              <a:rect l="l" t="t" r="r" b="b"/>
              <a:pathLst>
                <a:path w="544195" h="768096">
                  <a:moveTo>
                    <a:pt x="0" y="90678"/>
                  </a:moveTo>
                  <a:cubicBezTo>
                    <a:pt x="0" y="40640"/>
                    <a:pt x="40640" y="0"/>
                    <a:pt x="90678" y="0"/>
                  </a:cubicBezTo>
                  <a:lnTo>
                    <a:pt x="453517" y="0"/>
                  </a:lnTo>
                  <a:cubicBezTo>
                    <a:pt x="503555" y="0"/>
                    <a:pt x="544195" y="40640"/>
                    <a:pt x="544195" y="90678"/>
                  </a:cubicBezTo>
                  <a:lnTo>
                    <a:pt x="544195" y="677418"/>
                  </a:lnTo>
                  <a:cubicBezTo>
                    <a:pt x="544195" y="727456"/>
                    <a:pt x="503555" y="768096"/>
                    <a:pt x="453517" y="768096"/>
                  </a:cubicBezTo>
                  <a:lnTo>
                    <a:pt x="90678" y="768096"/>
                  </a:lnTo>
                  <a:cubicBezTo>
                    <a:pt x="40640" y="768096"/>
                    <a:pt x="0" y="727456"/>
                    <a:pt x="0" y="677418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3242512" y="5959316"/>
            <a:ext cx="672656" cy="590360"/>
            <a:chOff x="0" y="0"/>
            <a:chExt cx="896874" cy="78714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96874" cy="787146"/>
            </a:xfrm>
            <a:custGeom>
              <a:avLst/>
              <a:gdLst/>
              <a:ahLst/>
              <a:cxnLst/>
              <a:rect l="l" t="t" r="r" b="b"/>
              <a:pathLst>
                <a:path w="896874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765683" y="0"/>
                  </a:lnTo>
                  <a:cubicBezTo>
                    <a:pt x="838200" y="0"/>
                    <a:pt x="896874" y="58674"/>
                    <a:pt x="896874" y="131191"/>
                  </a:cubicBezTo>
                  <a:lnTo>
                    <a:pt x="896874" y="655955"/>
                  </a:lnTo>
                  <a:cubicBezTo>
                    <a:pt x="896874" y="728472"/>
                    <a:pt x="838200" y="787146"/>
                    <a:pt x="765683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3249656" y="5966460"/>
            <a:ext cx="592531" cy="576072"/>
            <a:chOff x="0" y="0"/>
            <a:chExt cx="790042" cy="7680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90067" cy="768096"/>
            </a:xfrm>
            <a:custGeom>
              <a:avLst/>
              <a:gdLst/>
              <a:ahLst/>
              <a:cxnLst/>
              <a:rect l="l" t="t" r="r" b="b"/>
              <a:pathLst>
                <a:path w="790067" h="768096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62051" y="0"/>
                  </a:lnTo>
                  <a:cubicBezTo>
                    <a:pt x="732790" y="0"/>
                    <a:pt x="790067" y="57277"/>
                    <a:pt x="790067" y="128016"/>
                  </a:cubicBezTo>
                  <a:lnTo>
                    <a:pt x="790067" y="640080"/>
                  </a:lnTo>
                  <a:cubicBezTo>
                    <a:pt x="790067" y="710819"/>
                    <a:pt x="732790" y="768096"/>
                    <a:pt x="662051" y="768096"/>
                  </a:cubicBezTo>
                  <a:lnTo>
                    <a:pt x="128016" y="768096"/>
                  </a:lnTo>
                  <a:cubicBezTo>
                    <a:pt x="57277" y="768096"/>
                    <a:pt x="0" y="710819"/>
                    <a:pt x="0" y="640080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4230064" y="5959316"/>
            <a:ext cx="672656" cy="590360"/>
            <a:chOff x="0" y="0"/>
            <a:chExt cx="896874" cy="78714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96874" cy="787146"/>
            </a:xfrm>
            <a:custGeom>
              <a:avLst/>
              <a:gdLst/>
              <a:ahLst/>
              <a:cxnLst/>
              <a:rect l="l" t="t" r="r" b="b"/>
              <a:pathLst>
                <a:path w="896874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765683" y="0"/>
                  </a:lnTo>
                  <a:cubicBezTo>
                    <a:pt x="838200" y="0"/>
                    <a:pt x="896874" y="58674"/>
                    <a:pt x="896874" y="131191"/>
                  </a:cubicBezTo>
                  <a:lnTo>
                    <a:pt x="896874" y="655955"/>
                  </a:lnTo>
                  <a:cubicBezTo>
                    <a:pt x="896874" y="728472"/>
                    <a:pt x="838200" y="787146"/>
                    <a:pt x="765683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4237208" y="5966460"/>
            <a:ext cx="230429" cy="576072"/>
            <a:chOff x="0" y="0"/>
            <a:chExt cx="307238" cy="76809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07213" cy="768096"/>
            </a:xfrm>
            <a:custGeom>
              <a:avLst/>
              <a:gdLst/>
              <a:ahLst/>
              <a:cxnLst/>
              <a:rect l="l" t="t" r="r" b="b"/>
              <a:pathLst>
                <a:path w="307213" h="768096">
                  <a:moveTo>
                    <a:pt x="0" y="51181"/>
                  </a:moveTo>
                  <a:cubicBezTo>
                    <a:pt x="0" y="22987"/>
                    <a:pt x="22987" y="0"/>
                    <a:pt x="51181" y="0"/>
                  </a:cubicBezTo>
                  <a:lnTo>
                    <a:pt x="256032" y="0"/>
                  </a:lnTo>
                  <a:cubicBezTo>
                    <a:pt x="284353" y="0"/>
                    <a:pt x="307213" y="22987"/>
                    <a:pt x="307213" y="51181"/>
                  </a:cubicBezTo>
                  <a:lnTo>
                    <a:pt x="307213" y="716915"/>
                  </a:lnTo>
                  <a:cubicBezTo>
                    <a:pt x="307213" y="745236"/>
                    <a:pt x="284226" y="768096"/>
                    <a:pt x="256032" y="768096"/>
                  </a:cubicBezTo>
                  <a:lnTo>
                    <a:pt x="51181" y="768096"/>
                  </a:lnTo>
                  <a:cubicBezTo>
                    <a:pt x="22987" y="768096"/>
                    <a:pt x="0" y="745109"/>
                    <a:pt x="0" y="716915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5217616" y="5959316"/>
            <a:ext cx="672656" cy="590360"/>
            <a:chOff x="0" y="0"/>
            <a:chExt cx="896874" cy="78714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96874" cy="787146"/>
            </a:xfrm>
            <a:custGeom>
              <a:avLst/>
              <a:gdLst/>
              <a:ahLst/>
              <a:cxnLst/>
              <a:rect l="l" t="t" r="r" b="b"/>
              <a:pathLst>
                <a:path w="896874" h="787146">
                  <a:moveTo>
                    <a:pt x="0" y="131191"/>
                  </a:moveTo>
                  <a:cubicBezTo>
                    <a:pt x="0" y="58674"/>
                    <a:pt x="58674" y="0"/>
                    <a:pt x="131191" y="0"/>
                  </a:cubicBezTo>
                  <a:lnTo>
                    <a:pt x="765683" y="0"/>
                  </a:lnTo>
                  <a:cubicBezTo>
                    <a:pt x="838200" y="0"/>
                    <a:pt x="896874" y="58674"/>
                    <a:pt x="896874" y="131191"/>
                  </a:cubicBezTo>
                  <a:lnTo>
                    <a:pt x="896874" y="655955"/>
                  </a:lnTo>
                  <a:cubicBezTo>
                    <a:pt x="896874" y="728472"/>
                    <a:pt x="838200" y="787146"/>
                    <a:pt x="765683" y="787146"/>
                  </a:cubicBezTo>
                  <a:lnTo>
                    <a:pt x="131191" y="787146"/>
                  </a:lnTo>
                  <a:cubicBezTo>
                    <a:pt x="58674" y="787146"/>
                    <a:pt x="0" y="728472"/>
                    <a:pt x="0" y="6559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5224760" y="5966460"/>
            <a:ext cx="474021" cy="576072"/>
            <a:chOff x="0" y="0"/>
            <a:chExt cx="632028" cy="76809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31952" cy="768096"/>
            </a:xfrm>
            <a:custGeom>
              <a:avLst/>
              <a:gdLst/>
              <a:ahLst/>
              <a:cxnLst/>
              <a:rect l="l" t="t" r="r" b="b"/>
              <a:pathLst>
                <a:path w="631952" h="768096">
                  <a:moveTo>
                    <a:pt x="0" y="105283"/>
                  </a:moveTo>
                  <a:cubicBezTo>
                    <a:pt x="0" y="47117"/>
                    <a:pt x="47117" y="0"/>
                    <a:pt x="105283" y="0"/>
                  </a:cubicBezTo>
                  <a:lnTo>
                    <a:pt x="526669" y="0"/>
                  </a:lnTo>
                  <a:cubicBezTo>
                    <a:pt x="584835" y="0"/>
                    <a:pt x="631952" y="47117"/>
                    <a:pt x="631952" y="105283"/>
                  </a:cubicBezTo>
                  <a:lnTo>
                    <a:pt x="631952" y="662813"/>
                  </a:lnTo>
                  <a:cubicBezTo>
                    <a:pt x="631952" y="720979"/>
                    <a:pt x="584835" y="768096"/>
                    <a:pt x="526669" y="768096"/>
                  </a:cubicBezTo>
                  <a:lnTo>
                    <a:pt x="105283" y="768096"/>
                  </a:lnTo>
                  <a:cubicBezTo>
                    <a:pt x="47117" y="768096"/>
                    <a:pt x="0" y="720979"/>
                    <a:pt x="0" y="662813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5417820" y="8435340"/>
            <a:ext cx="6926580" cy="534924"/>
            <a:chOff x="0" y="0"/>
            <a:chExt cx="9235440" cy="71323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235440" cy="713232"/>
            </a:xfrm>
            <a:custGeom>
              <a:avLst/>
              <a:gdLst/>
              <a:ahLst/>
              <a:cxnLst/>
              <a:rect l="l" t="t" r="r" b="b"/>
              <a:pathLst>
                <a:path w="9235440" h="713232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9116568" y="0"/>
                  </a:lnTo>
                  <a:cubicBezTo>
                    <a:pt x="9182227" y="0"/>
                    <a:pt x="9235440" y="53213"/>
                    <a:pt x="9235440" y="118872"/>
                  </a:cubicBezTo>
                  <a:lnTo>
                    <a:pt x="9235440" y="594360"/>
                  </a:lnTo>
                  <a:cubicBezTo>
                    <a:pt x="9235440" y="660019"/>
                    <a:pt x="9182227" y="713232"/>
                    <a:pt x="9116568" y="713232"/>
                  </a:cubicBezTo>
                  <a:lnTo>
                    <a:pt x="118872" y="713232"/>
                  </a:lnTo>
                  <a:cubicBezTo>
                    <a:pt x="53213" y="713232"/>
                    <a:pt x="0" y="660019"/>
                    <a:pt x="0" y="594360"/>
                  </a:cubicBezTo>
                  <a:close/>
                </a:path>
              </a:pathLst>
            </a:custGeom>
            <a:solidFill>
              <a:srgbClr val="E2F4EF"/>
            </a:solidFill>
          </p:spPr>
        </p:sp>
      </p:grpSp>
      <p:sp>
        <p:nvSpPr>
          <p:cNvPr id="53" name="TextBox 53"/>
          <p:cNvSpPr txBox="1"/>
          <p:nvPr/>
        </p:nvSpPr>
        <p:spPr>
          <a:xfrm>
            <a:off x="5880946" y="8486299"/>
            <a:ext cx="5986611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IMPROVED SIAMESE + CLINICAL MODEL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8992" y="882396"/>
            <a:ext cx="1559052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Model Comparison &amp; Final Selection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6424" y="1650492"/>
            <a:ext cx="1517904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Validation performance determined which MRI-based model moved forward.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6152" y="2551557"/>
            <a:ext cx="413766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Clinical-only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486400" y="2523744"/>
            <a:ext cx="7886700" cy="370332"/>
            <a:chOff x="0" y="0"/>
            <a:chExt cx="10515600" cy="4937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15600" cy="493776"/>
            </a:xfrm>
            <a:custGeom>
              <a:avLst/>
              <a:gdLst/>
              <a:ahLst/>
              <a:cxnLst/>
              <a:rect l="l" t="t" r="r" b="b"/>
              <a:pathLst>
                <a:path w="10515600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10433304" y="0"/>
                  </a:lnTo>
                  <a:cubicBezTo>
                    <a:pt x="10478770" y="0"/>
                    <a:pt x="10515600" y="36830"/>
                    <a:pt x="10515600" y="82296"/>
                  </a:cubicBezTo>
                  <a:lnTo>
                    <a:pt x="10515600" y="411480"/>
                  </a:lnTo>
                  <a:cubicBezTo>
                    <a:pt x="10515600" y="456946"/>
                    <a:pt x="10478770" y="493776"/>
                    <a:pt x="10433304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F2F6F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486400" y="2523744"/>
            <a:ext cx="5841416" cy="370332"/>
            <a:chOff x="0" y="0"/>
            <a:chExt cx="7788554" cy="4937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88528" cy="493776"/>
            </a:xfrm>
            <a:custGeom>
              <a:avLst/>
              <a:gdLst/>
              <a:ahLst/>
              <a:cxnLst/>
              <a:rect l="l" t="t" r="r" b="b"/>
              <a:pathLst>
                <a:path w="7788528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7706233" y="0"/>
                  </a:lnTo>
                  <a:cubicBezTo>
                    <a:pt x="7751699" y="0"/>
                    <a:pt x="7788528" y="36830"/>
                    <a:pt x="7788528" y="82296"/>
                  </a:cubicBezTo>
                  <a:lnTo>
                    <a:pt x="7788528" y="411480"/>
                  </a:lnTo>
                  <a:cubicBezTo>
                    <a:pt x="7788528" y="456946"/>
                    <a:pt x="7751699" y="493776"/>
                    <a:pt x="7706233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3747718" y="2551557"/>
            <a:ext cx="120729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80"/>
              </a:lnSpc>
            </a:pPr>
            <a:r>
              <a:rPr lang="en-US" sz="29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44.44%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6152" y="3470529"/>
            <a:ext cx="413766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Time1 CNN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486400" y="3442716"/>
            <a:ext cx="7886700" cy="370332"/>
            <a:chOff x="0" y="0"/>
            <a:chExt cx="10515600" cy="4937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15600" cy="493776"/>
            </a:xfrm>
            <a:custGeom>
              <a:avLst/>
              <a:gdLst/>
              <a:ahLst/>
              <a:cxnLst/>
              <a:rect l="l" t="t" r="r" b="b"/>
              <a:pathLst>
                <a:path w="10515600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10433304" y="0"/>
                  </a:lnTo>
                  <a:cubicBezTo>
                    <a:pt x="10478770" y="0"/>
                    <a:pt x="10515600" y="36830"/>
                    <a:pt x="10515600" y="82296"/>
                  </a:cubicBezTo>
                  <a:lnTo>
                    <a:pt x="10515600" y="411480"/>
                  </a:lnTo>
                  <a:cubicBezTo>
                    <a:pt x="10515600" y="456946"/>
                    <a:pt x="10478770" y="493776"/>
                    <a:pt x="10433304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F2F6F9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486400" y="3442716"/>
            <a:ext cx="7009962" cy="370332"/>
            <a:chOff x="0" y="0"/>
            <a:chExt cx="9346616" cy="4937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346564" cy="493776"/>
            </a:xfrm>
            <a:custGeom>
              <a:avLst/>
              <a:gdLst/>
              <a:ahLst/>
              <a:cxnLst/>
              <a:rect l="l" t="t" r="r" b="b"/>
              <a:pathLst>
                <a:path w="9346564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9264269" y="0"/>
                  </a:lnTo>
                  <a:cubicBezTo>
                    <a:pt x="9309735" y="0"/>
                    <a:pt x="9346564" y="36830"/>
                    <a:pt x="9346564" y="82296"/>
                  </a:cubicBezTo>
                  <a:lnTo>
                    <a:pt x="9346564" y="411480"/>
                  </a:lnTo>
                  <a:cubicBezTo>
                    <a:pt x="9346564" y="456946"/>
                    <a:pt x="9309735" y="493776"/>
                    <a:pt x="9264269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3747718" y="3470529"/>
            <a:ext cx="120729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80"/>
              </a:lnSpc>
            </a:pPr>
            <a:r>
              <a:rPr lang="en-US" sz="2900" b="1">
                <a:solidFill>
                  <a:srgbClr val="466FAE"/>
                </a:solidFill>
                <a:latin typeface="Aptos Bold"/>
                <a:ea typeface="Aptos Bold"/>
                <a:cs typeface="Aptos Bold"/>
                <a:sym typeface="Aptos Bold"/>
              </a:rPr>
              <a:t>53.33%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6152" y="4389501"/>
            <a:ext cx="413766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Time2 CNN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486400" y="4361688"/>
            <a:ext cx="7886700" cy="370332"/>
            <a:chOff x="0" y="0"/>
            <a:chExt cx="10515600" cy="4937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15600" cy="493776"/>
            </a:xfrm>
            <a:custGeom>
              <a:avLst/>
              <a:gdLst/>
              <a:ahLst/>
              <a:cxnLst/>
              <a:rect l="l" t="t" r="r" b="b"/>
              <a:pathLst>
                <a:path w="10515600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10433304" y="0"/>
                  </a:lnTo>
                  <a:cubicBezTo>
                    <a:pt x="10478770" y="0"/>
                    <a:pt x="10515600" y="36830"/>
                    <a:pt x="10515600" y="82296"/>
                  </a:cubicBezTo>
                  <a:lnTo>
                    <a:pt x="10515600" y="411480"/>
                  </a:lnTo>
                  <a:cubicBezTo>
                    <a:pt x="10515600" y="456946"/>
                    <a:pt x="10478770" y="493776"/>
                    <a:pt x="10433304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F2F6F9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486400" y="4361688"/>
            <a:ext cx="7009962" cy="370332"/>
            <a:chOff x="0" y="0"/>
            <a:chExt cx="9346616" cy="49377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46564" cy="493776"/>
            </a:xfrm>
            <a:custGeom>
              <a:avLst/>
              <a:gdLst/>
              <a:ahLst/>
              <a:cxnLst/>
              <a:rect l="l" t="t" r="r" b="b"/>
              <a:pathLst>
                <a:path w="9346564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9264269" y="0"/>
                  </a:lnTo>
                  <a:cubicBezTo>
                    <a:pt x="9309735" y="0"/>
                    <a:pt x="9346564" y="36830"/>
                    <a:pt x="9346564" y="82296"/>
                  </a:cubicBezTo>
                  <a:lnTo>
                    <a:pt x="9346564" y="411480"/>
                  </a:lnTo>
                  <a:cubicBezTo>
                    <a:pt x="9346564" y="456946"/>
                    <a:pt x="9309735" y="493776"/>
                    <a:pt x="9264269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747718" y="4389501"/>
            <a:ext cx="120729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80"/>
              </a:lnSpc>
            </a:pPr>
            <a:r>
              <a:rPr lang="en-US" sz="2900" b="1">
                <a:solidFill>
                  <a:srgbClr val="466FAE"/>
                </a:solidFill>
                <a:latin typeface="Aptos Bold"/>
                <a:ea typeface="Aptos Bold"/>
                <a:cs typeface="Aptos Bold"/>
                <a:sym typeface="Aptos Bold"/>
              </a:rPr>
              <a:t>53.33%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6152" y="5308473"/>
            <a:ext cx="413766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Siamese MRI-only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486400" y="5280660"/>
            <a:ext cx="7886700" cy="370332"/>
            <a:chOff x="0" y="0"/>
            <a:chExt cx="10515600" cy="4937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515600" cy="493776"/>
            </a:xfrm>
            <a:custGeom>
              <a:avLst/>
              <a:gdLst/>
              <a:ahLst/>
              <a:cxnLst/>
              <a:rect l="l" t="t" r="r" b="b"/>
              <a:pathLst>
                <a:path w="10515600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10433304" y="0"/>
                  </a:lnTo>
                  <a:cubicBezTo>
                    <a:pt x="10478770" y="0"/>
                    <a:pt x="10515600" y="36830"/>
                    <a:pt x="10515600" y="82296"/>
                  </a:cubicBezTo>
                  <a:lnTo>
                    <a:pt x="10515600" y="411480"/>
                  </a:lnTo>
                  <a:cubicBezTo>
                    <a:pt x="10515600" y="456946"/>
                    <a:pt x="10478770" y="493776"/>
                    <a:pt x="10433304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F2F6F9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5486400" y="5280660"/>
            <a:ext cx="5841416" cy="370332"/>
            <a:chOff x="0" y="0"/>
            <a:chExt cx="7788554" cy="4937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788528" cy="493776"/>
            </a:xfrm>
            <a:custGeom>
              <a:avLst/>
              <a:gdLst/>
              <a:ahLst/>
              <a:cxnLst/>
              <a:rect l="l" t="t" r="r" b="b"/>
              <a:pathLst>
                <a:path w="7788528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7706233" y="0"/>
                  </a:lnTo>
                  <a:cubicBezTo>
                    <a:pt x="7751699" y="0"/>
                    <a:pt x="7788528" y="36830"/>
                    <a:pt x="7788528" y="82296"/>
                  </a:cubicBezTo>
                  <a:lnTo>
                    <a:pt x="7788528" y="411480"/>
                  </a:lnTo>
                  <a:cubicBezTo>
                    <a:pt x="7788528" y="456946"/>
                    <a:pt x="7751699" y="493776"/>
                    <a:pt x="7706233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5BA9BE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747718" y="5308473"/>
            <a:ext cx="120729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80"/>
              </a:lnSpc>
            </a:pPr>
            <a:r>
              <a:rPr lang="en-US" sz="2900" b="1">
                <a:solidFill>
                  <a:srgbClr val="5BA9BE"/>
                </a:solidFill>
                <a:latin typeface="Aptos Bold"/>
                <a:ea typeface="Aptos Bold"/>
                <a:cs typeface="Aptos Bold"/>
                <a:sym typeface="Aptos Bold"/>
              </a:rPr>
              <a:t>44.44%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6152" y="6227445"/>
            <a:ext cx="413766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Siamese + Clinical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486400" y="6199632"/>
            <a:ext cx="7886700" cy="370332"/>
            <a:chOff x="0" y="0"/>
            <a:chExt cx="10515600" cy="4937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515600" cy="493776"/>
            </a:xfrm>
            <a:custGeom>
              <a:avLst/>
              <a:gdLst/>
              <a:ahLst/>
              <a:cxnLst/>
              <a:rect l="l" t="t" r="r" b="b"/>
              <a:pathLst>
                <a:path w="10515600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10433304" y="0"/>
                  </a:lnTo>
                  <a:cubicBezTo>
                    <a:pt x="10478770" y="0"/>
                    <a:pt x="10515600" y="36830"/>
                    <a:pt x="10515600" y="82296"/>
                  </a:cubicBezTo>
                  <a:lnTo>
                    <a:pt x="10515600" y="411480"/>
                  </a:lnTo>
                  <a:cubicBezTo>
                    <a:pt x="10515600" y="456946"/>
                    <a:pt x="10478770" y="493776"/>
                    <a:pt x="10433304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F2F6F9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5486400" y="6199632"/>
            <a:ext cx="5549608" cy="370332"/>
            <a:chOff x="0" y="0"/>
            <a:chExt cx="7399477" cy="49377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99527" cy="493776"/>
            </a:xfrm>
            <a:custGeom>
              <a:avLst/>
              <a:gdLst/>
              <a:ahLst/>
              <a:cxnLst/>
              <a:rect l="l" t="t" r="r" b="b"/>
              <a:pathLst>
                <a:path w="7399527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7317232" y="0"/>
                  </a:lnTo>
                  <a:cubicBezTo>
                    <a:pt x="7362698" y="0"/>
                    <a:pt x="7399527" y="36830"/>
                    <a:pt x="7399527" y="82296"/>
                  </a:cubicBezTo>
                  <a:lnTo>
                    <a:pt x="7399527" y="411480"/>
                  </a:lnTo>
                  <a:cubicBezTo>
                    <a:pt x="7399527" y="456946"/>
                    <a:pt x="7362698" y="493776"/>
                    <a:pt x="7317232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5BA9BE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3747718" y="6227445"/>
            <a:ext cx="120729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80"/>
              </a:lnSpc>
            </a:pPr>
            <a:r>
              <a:rPr lang="en-US" sz="2900" b="1">
                <a:solidFill>
                  <a:srgbClr val="5BA9BE"/>
                </a:solidFill>
                <a:latin typeface="Aptos Bold"/>
                <a:ea typeface="Aptos Bold"/>
                <a:cs typeface="Aptos Bold"/>
                <a:sym typeface="Aptos Bold"/>
              </a:rPr>
              <a:t>42.22%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6152" y="7146417"/>
            <a:ext cx="413766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Improved Siamese + Clinical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486400" y="7118604"/>
            <a:ext cx="7886700" cy="370332"/>
            <a:chOff x="0" y="0"/>
            <a:chExt cx="10515600" cy="49377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515600" cy="493776"/>
            </a:xfrm>
            <a:custGeom>
              <a:avLst/>
              <a:gdLst/>
              <a:ahLst/>
              <a:cxnLst/>
              <a:rect l="l" t="t" r="r" b="b"/>
              <a:pathLst>
                <a:path w="10515600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10433304" y="0"/>
                  </a:lnTo>
                  <a:cubicBezTo>
                    <a:pt x="10478770" y="0"/>
                    <a:pt x="10515600" y="36830"/>
                    <a:pt x="10515600" y="82296"/>
                  </a:cubicBezTo>
                  <a:lnTo>
                    <a:pt x="10515600" y="411480"/>
                  </a:lnTo>
                  <a:cubicBezTo>
                    <a:pt x="10515600" y="456946"/>
                    <a:pt x="10478770" y="493776"/>
                    <a:pt x="10433304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F2F6F9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5486400" y="7118604"/>
            <a:ext cx="7886700" cy="370332"/>
            <a:chOff x="0" y="0"/>
            <a:chExt cx="10515600" cy="49377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515600" cy="493776"/>
            </a:xfrm>
            <a:custGeom>
              <a:avLst/>
              <a:gdLst/>
              <a:ahLst/>
              <a:cxnLst/>
              <a:rect l="l" t="t" r="r" b="b"/>
              <a:pathLst>
                <a:path w="10515600" h="493776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lnTo>
                    <a:pt x="10433304" y="0"/>
                  </a:lnTo>
                  <a:cubicBezTo>
                    <a:pt x="10478770" y="0"/>
                    <a:pt x="10515600" y="36830"/>
                    <a:pt x="10515600" y="82296"/>
                  </a:cubicBezTo>
                  <a:lnTo>
                    <a:pt x="10515600" y="411480"/>
                  </a:lnTo>
                  <a:cubicBezTo>
                    <a:pt x="10515600" y="456946"/>
                    <a:pt x="10478770" y="493776"/>
                    <a:pt x="10433304" y="493776"/>
                  </a:cubicBezTo>
                  <a:lnTo>
                    <a:pt x="82296" y="493776"/>
                  </a:lnTo>
                  <a:cubicBezTo>
                    <a:pt x="36830" y="493776"/>
                    <a:pt x="0" y="456946"/>
                    <a:pt x="0" y="411480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3789390" y="7136892"/>
            <a:ext cx="116562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60.00%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5254240" y="2523744"/>
            <a:ext cx="2422731" cy="5390388"/>
            <a:chOff x="0" y="0"/>
            <a:chExt cx="3230308" cy="71871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230245" cy="7187185"/>
            </a:xfrm>
            <a:custGeom>
              <a:avLst/>
              <a:gdLst/>
              <a:ahLst/>
              <a:cxnLst/>
              <a:rect l="l" t="t" r="r" b="b"/>
              <a:pathLst>
                <a:path w="3230245" h="7187185">
                  <a:moveTo>
                    <a:pt x="0" y="538353"/>
                  </a:moveTo>
                  <a:cubicBezTo>
                    <a:pt x="0" y="241046"/>
                    <a:pt x="241046" y="0"/>
                    <a:pt x="538353" y="0"/>
                  </a:cubicBezTo>
                  <a:lnTo>
                    <a:pt x="2691892" y="0"/>
                  </a:lnTo>
                  <a:cubicBezTo>
                    <a:pt x="2989199" y="0"/>
                    <a:pt x="3230245" y="241046"/>
                    <a:pt x="3230245" y="538353"/>
                  </a:cubicBezTo>
                  <a:lnTo>
                    <a:pt x="3230245" y="6648831"/>
                  </a:lnTo>
                  <a:cubicBezTo>
                    <a:pt x="3230245" y="6946138"/>
                    <a:pt x="2989199" y="7187185"/>
                    <a:pt x="2691892" y="7187185"/>
                  </a:cubicBezTo>
                  <a:lnTo>
                    <a:pt x="538353" y="7187185"/>
                  </a:lnTo>
                  <a:cubicBezTo>
                    <a:pt x="241046" y="7187184"/>
                    <a:pt x="0" y="6946138"/>
                    <a:pt x="0" y="6648831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15247620" y="3035808"/>
            <a:ext cx="20430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A9E2DC"/>
                </a:solidFill>
                <a:latin typeface="Aptos Bold"/>
                <a:ea typeface="Aptos Bold"/>
                <a:cs typeface="Aptos Bold"/>
                <a:sym typeface="Aptos Bold"/>
              </a:rPr>
              <a:t>SELECTED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730242" y="3895725"/>
            <a:ext cx="1460478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60.00%</a:t>
            </a:r>
          </a:p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Val. Acc.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512329" y="5953125"/>
            <a:ext cx="167839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Macro-F1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0.4006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131826" y="7984617"/>
            <a:ext cx="7364536" cy="1145611"/>
            <a:chOff x="0" y="0"/>
            <a:chExt cx="7498080" cy="116638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498080" cy="1166385"/>
            </a:xfrm>
            <a:custGeom>
              <a:avLst/>
              <a:gdLst/>
              <a:ahLst/>
              <a:cxnLst/>
              <a:rect l="l" t="t" r="r" b="b"/>
              <a:pathLst>
                <a:path w="7498080" h="1166385">
                  <a:moveTo>
                    <a:pt x="0" y="194397"/>
                  </a:moveTo>
                  <a:cubicBezTo>
                    <a:pt x="0" y="87022"/>
                    <a:pt x="53213" y="0"/>
                    <a:pt x="118872" y="0"/>
                  </a:cubicBezTo>
                  <a:lnTo>
                    <a:pt x="7379208" y="0"/>
                  </a:lnTo>
                  <a:cubicBezTo>
                    <a:pt x="7444867" y="0"/>
                    <a:pt x="7498080" y="87022"/>
                    <a:pt x="7498080" y="194397"/>
                  </a:cubicBezTo>
                  <a:lnTo>
                    <a:pt x="7498080" y="971987"/>
                  </a:lnTo>
                  <a:cubicBezTo>
                    <a:pt x="7498080" y="1079363"/>
                    <a:pt x="7444867" y="1166385"/>
                    <a:pt x="7379208" y="1166385"/>
                  </a:cubicBezTo>
                  <a:lnTo>
                    <a:pt x="118872" y="1166385"/>
                  </a:lnTo>
                  <a:cubicBezTo>
                    <a:pt x="53213" y="1166385"/>
                    <a:pt x="0" y="1079363"/>
                    <a:pt x="0" y="971987"/>
                  </a:cubicBezTo>
                  <a:close/>
                </a:path>
              </a:pathLst>
            </a:custGeom>
            <a:solidFill>
              <a:srgbClr val="FAEEE2"/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5410798" y="8324060"/>
            <a:ext cx="692690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BALANCED SAMPLING: NOT SELECTED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1684" y="0"/>
            <a:ext cx="17786316" cy="9406596"/>
          </a:xfrm>
          <a:custGeom>
            <a:avLst/>
            <a:gdLst/>
            <a:ahLst/>
            <a:cxnLst/>
            <a:rect l="l" t="t" r="r" b="b"/>
            <a:pathLst>
              <a:path w="17786316" h="9406596">
                <a:moveTo>
                  <a:pt x="0" y="0"/>
                </a:moveTo>
                <a:lnTo>
                  <a:pt x="17786316" y="0"/>
                </a:lnTo>
                <a:lnTo>
                  <a:pt x="17786316" y="9406596"/>
                </a:lnTo>
                <a:lnTo>
                  <a:pt x="0" y="9406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" r="-90" b="-380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8877" y="9461546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8992" y="882396"/>
            <a:ext cx="1559052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9"/>
              </a:lnSpc>
            </a:pPr>
            <a:r>
              <a:rPr lang="en-US" sz="4849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Explainability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8992" y="1795367"/>
            <a:ext cx="1517904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2279" b="1">
                <a:solidFill>
                  <a:srgbClr val="687787"/>
                </a:solidFill>
                <a:latin typeface="Aptos Bold"/>
                <a:ea typeface="Aptos Bold"/>
                <a:cs typeface="Aptos Bold"/>
                <a:sym typeface="Aptos Bold"/>
              </a:rPr>
              <a:t>We tested whether the model's attention aligned with expert enhancing-tumor regions.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2704" y="2626328"/>
            <a:ext cx="4883468" cy="5294947"/>
            <a:chOff x="0" y="0"/>
            <a:chExt cx="6511290" cy="70599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511290" cy="7059930"/>
            </a:xfrm>
            <a:custGeom>
              <a:avLst/>
              <a:gdLst/>
              <a:ahLst/>
              <a:cxnLst/>
              <a:rect l="l" t="t" r="r" b="b"/>
              <a:pathLst>
                <a:path w="6511290" h="7059930">
                  <a:moveTo>
                    <a:pt x="0" y="1085215"/>
                  </a:moveTo>
                  <a:cubicBezTo>
                    <a:pt x="0" y="485902"/>
                    <a:pt x="485902" y="0"/>
                    <a:pt x="1085215" y="0"/>
                  </a:cubicBezTo>
                  <a:lnTo>
                    <a:pt x="5426075" y="0"/>
                  </a:lnTo>
                  <a:cubicBezTo>
                    <a:pt x="6025388" y="0"/>
                    <a:pt x="6511290" y="485902"/>
                    <a:pt x="6511290" y="1085215"/>
                  </a:cubicBezTo>
                  <a:lnTo>
                    <a:pt x="6511290" y="5974715"/>
                  </a:lnTo>
                  <a:cubicBezTo>
                    <a:pt x="6511290" y="6574028"/>
                    <a:pt x="6025388" y="7059930"/>
                    <a:pt x="5426075" y="7059930"/>
                  </a:cubicBezTo>
                  <a:lnTo>
                    <a:pt x="1085215" y="7059930"/>
                  </a:lnTo>
                  <a:cubicBezTo>
                    <a:pt x="485902" y="7059930"/>
                    <a:pt x="0" y="6574028"/>
                    <a:pt x="0" y="5974715"/>
                  </a:cubicBezTo>
                  <a:close/>
                </a:path>
              </a:pathLst>
            </a:custGeom>
            <a:solidFill>
              <a:srgbClr val="E5EF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3017520" y="3177350"/>
            <a:ext cx="987552" cy="987552"/>
            <a:chOff x="0" y="0"/>
            <a:chExt cx="1316736" cy="13167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3410331" y="3447288"/>
            <a:ext cx="20193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974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2768" y="4493895"/>
            <a:ext cx="386334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9"/>
              </a:lnSpc>
            </a:pPr>
            <a:r>
              <a:rPr lang="en-US" sz="2424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Standard Grad-CAM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2496" y="5367528"/>
            <a:ext cx="365760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sz="220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Zero maps observed</a:t>
            </a:r>
          </a:p>
          <a:p>
            <a:pPr algn="ctr">
              <a:lnSpc>
                <a:spcPts val="2645"/>
              </a:lnSpc>
            </a:pPr>
            <a:r>
              <a:rPr lang="en-US" sz="220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 some patients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617684" y="2626328"/>
            <a:ext cx="4883468" cy="5294947"/>
            <a:chOff x="0" y="0"/>
            <a:chExt cx="6511290" cy="70599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511290" cy="7059930"/>
            </a:xfrm>
            <a:custGeom>
              <a:avLst/>
              <a:gdLst/>
              <a:ahLst/>
              <a:cxnLst/>
              <a:rect l="l" t="t" r="r" b="b"/>
              <a:pathLst>
                <a:path w="6511290" h="7059930">
                  <a:moveTo>
                    <a:pt x="0" y="1085215"/>
                  </a:moveTo>
                  <a:cubicBezTo>
                    <a:pt x="0" y="485902"/>
                    <a:pt x="485902" y="0"/>
                    <a:pt x="1085215" y="0"/>
                  </a:cubicBezTo>
                  <a:lnTo>
                    <a:pt x="5426075" y="0"/>
                  </a:lnTo>
                  <a:cubicBezTo>
                    <a:pt x="6025388" y="0"/>
                    <a:pt x="6511290" y="485902"/>
                    <a:pt x="6511290" y="1085215"/>
                  </a:cubicBezTo>
                  <a:lnTo>
                    <a:pt x="6511290" y="5974715"/>
                  </a:lnTo>
                  <a:cubicBezTo>
                    <a:pt x="6511290" y="6574028"/>
                    <a:pt x="6025388" y="7059930"/>
                    <a:pt x="5426075" y="7059930"/>
                  </a:cubicBezTo>
                  <a:lnTo>
                    <a:pt x="1085215" y="7059930"/>
                  </a:lnTo>
                  <a:cubicBezTo>
                    <a:pt x="485902" y="7059930"/>
                    <a:pt x="0" y="6574028"/>
                    <a:pt x="0" y="5974715"/>
                  </a:cubicBezTo>
                  <a:close/>
                </a:path>
              </a:pathLst>
            </a:custGeom>
            <a:solidFill>
              <a:srgbClr val="E2F4E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565642" y="3167825"/>
            <a:ext cx="987552" cy="987552"/>
            <a:chOff x="0" y="0"/>
            <a:chExt cx="1316736" cy="13167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8968764" y="3447288"/>
            <a:ext cx="19502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874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27748" y="4493895"/>
            <a:ext cx="386334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9"/>
              </a:lnSpc>
            </a:pPr>
            <a:r>
              <a:rPr lang="en-US" sz="2424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Signed Grad-CAM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7476" y="5358003"/>
            <a:ext cx="365760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10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Used to address</a:t>
            </a:r>
          </a:p>
          <a:p>
            <a:pPr algn="ctr">
              <a:lnSpc>
                <a:spcPts val="2525"/>
              </a:lnSpc>
            </a:pPr>
            <a:r>
              <a:rPr lang="en-US" sz="210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zero-CAM behavior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172664" y="2626328"/>
            <a:ext cx="4883468" cy="5294947"/>
            <a:chOff x="0" y="0"/>
            <a:chExt cx="6511290" cy="70599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11290" cy="7059930"/>
            </a:xfrm>
            <a:custGeom>
              <a:avLst/>
              <a:gdLst/>
              <a:ahLst/>
              <a:cxnLst/>
              <a:rect l="l" t="t" r="r" b="b"/>
              <a:pathLst>
                <a:path w="6511290" h="7059930">
                  <a:moveTo>
                    <a:pt x="0" y="1085215"/>
                  </a:moveTo>
                  <a:cubicBezTo>
                    <a:pt x="0" y="485902"/>
                    <a:pt x="485902" y="0"/>
                    <a:pt x="1085215" y="0"/>
                  </a:cubicBezTo>
                  <a:lnTo>
                    <a:pt x="5426075" y="0"/>
                  </a:lnTo>
                  <a:cubicBezTo>
                    <a:pt x="6025388" y="0"/>
                    <a:pt x="6511290" y="485902"/>
                    <a:pt x="6511290" y="1085215"/>
                  </a:cubicBezTo>
                  <a:lnTo>
                    <a:pt x="6511290" y="5974715"/>
                  </a:lnTo>
                  <a:cubicBezTo>
                    <a:pt x="6511290" y="6574028"/>
                    <a:pt x="6025388" y="7059930"/>
                    <a:pt x="5426075" y="7059930"/>
                  </a:cubicBezTo>
                  <a:lnTo>
                    <a:pt x="1085215" y="7059930"/>
                  </a:lnTo>
                  <a:cubicBezTo>
                    <a:pt x="485902" y="7059930"/>
                    <a:pt x="0" y="6574028"/>
                    <a:pt x="0" y="5974715"/>
                  </a:cubicBezTo>
                  <a:close/>
                </a:path>
              </a:pathLst>
            </a:custGeom>
            <a:solidFill>
              <a:srgbClr val="EFEB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4127480" y="3086100"/>
            <a:ext cx="987552" cy="987552"/>
            <a:chOff x="0" y="0"/>
            <a:chExt cx="1316736" cy="131673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4523744" y="3365564"/>
            <a:ext cx="19502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874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82728" y="4493895"/>
            <a:ext cx="386334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9"/>
              </a:lnSpc>
            </a:pPr>
            <a:r>
              <a:rPr lang="en-US" sz="2424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Multi-layer Grad-CAM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92456" y="5358003"/>
            <a:ext cx="365760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10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Small Dice improvement</a:t>
            </a:r>
          </a:p>
          <a:p>
            <a:pPr algn="ctr">
              <a:lnSpc>
                <a:spcPts val="2525"/>
              </a:lnSpc>
            </a:pPr>
            <a:r>
              <a:rPr lang="en-US" sz="210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but still very low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982944" y="8195024"/>
            <a:ext cx="3237548" cy="1084136"/>
            <a:chOff x="0" y="0"/>
            <a:chExt cx="4316730" cy="144551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316730" cy="1445514"/>
            </a:xfrm>
            <a:custGeom>
              <a:avLst/>
              <a:gdLst/>
              <a:ahLst/>
              <a:cxnLst/>
              <a:rect l="l" t="t" r="r" b="b"/>
              <a:pathLst>
                <a:path w="4316730" h="1445514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4075811" y="0"/>
                  </a:lnTo>
                  <a:cubicBezTo>
                    <a:pt x="4208907" y="0"/>
                    <a:pt x="4316730" y="107823"/>
                    <a:pt x="4316730" y="240919"/>
                  </a:cubicBezTo>
                  <a:lnTo>
                    <a:pt x="4316730" y="1204595"/>
                  </a:lnTo>
                  <a:cubicBezTo>
                    <a:pt x="4316730" y="1337691"/>
                    <a:pt x="4208907" y="1445514"/>
                    <a:pt x="4075811" y="1445514"/>
                  </a:cubicBezTo>
                  <a:lnTo>
                    <a:pt x="240919" y="1445514"/>
                  </a:lnTo>
                  <a:cubicBezTo>
                    <a:pt x="107823" y="1445514"/>
                    <a:pt x="0" y="1337691"/>
                    <a:pt x="0" y="1204595"/>
                  </a:cubicBezTo>
                  <a:close/>
                </a:path>
              </a:pathLst>
            </a:custGeom>
            <a:solidFill>
              <a:srgbClr val="EFEB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3150108" y="8481060"/>
            <a:ext cx="2903220" cy="484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0.0110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82944" y="9445752"/>
            <a:ext cx="282092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944" b="1">
                <a:solidFill>
                  <a:srgbClr val="687787"/>
                </a:solidFill>
                <a:latin typeface="Aptos Bold"/>
                <a:ea typeface="Aptos Bold"/>
                <a:cs typeface="Aptos Bold"/>
                <a:sym typeface="Aptos Bold"/>
              </a:rPr>
              <a:t>TIME 1 DICE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782276" y="8195024"/>
            <a:ext cx="3237548" cy="1084136"/>
            <a:chOff x="0" y="0"/>
            <a:chExt cx="4316730" cy="144551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16730" cy="1445514"/>
            </a:xfrm>
            <a:custGeom>
              <a:avLst/>
              <a:gdLst/>
              <a:ahLst/>
              <a:cxnLst/>
              <a:rect l="l" t="t" r="r" b="b"/>
              <a:pathLst>
                <a:path w="4316730" h="1445514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4075811" y="0"/>
                  </a:lnTo>
                  <a:cubicBezTo>
                    <a:pt x="4208907" y="0"/>
                    <a:pt x="4316730" y="107823"/>
                    <a:pt x="4316730" y="240919"/>
                  </a:cubicBezTo>
                  <a:lnTo>
                    <a:pt x="4316730" y="1204595"/>
                  </a:lnTo>
                  <a:cubicBezTo>
                    <a:pt x="4316730" y="1337691"/>
                    <a:pt x="4208907" y="1445514"/>
                    <a:pt x="4075811" y="1445514"/>
                  </a:cubicBezTo>
                  <a:lnTo>
                    <a:pt x="240919" y="1445514"/>
                  </a:lnTo>
                  <a:cubicBezTo>
                    <a:pt x="107823" y="1445514"/>
                    <a:pt x="0" y="1337691"/>
                    <a:pt x="0" y="1204595"/>
                  </a:cubicBezTo>
                  <a:close/>
                </a:path>
              </a:pathLst>
            </a:custGeom>
            <a:solidFill>
              <a:srgbClr val="EFEB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6949440" y="8481060"/>
            <a:ext cx="2903220" cy="484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1">
                <a:solidFill>
                  <a:srgbClr val="466FAE"/>
                </a:solidFill>
                <a:latin typeface="Aptos Bold"/>
                <a:ea typeface="Aptos Bold"/>
                <a:cs typeface="Aptos Bold"/>
                <a:sym typeface="Aptos Bold"/>
              </a:rPr>
              <a:t>0.0119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90588" y="9445752"/>
            <a:ext cx="282092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944" b="1">
                <a:solidFill>
                  <a:srgbClr val="687787"/>
                </a:solidFill>
                <a:latin typeface="Aptos Bold"/>
                <a:ea typeface="Aptos Bold"/>
                <a:cs typeface="Aptos Bold"/>
                <a:sym typeface="Aptos Bold"/>
              </a:rPr>
              <a:t>TIME 2 DICE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581608" y="8195024"/>
            <a:ext cx="3237548" cy="1084136"/>
            <a:chOff x="0" y="0"/>
            <a:chExt cx="4316730" cy="144551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316730" cy="1445514"/>
            </a:xfrm>
            <a:custGeom>
              <a:avLst/>
              <a:gdLst/>
              <a:ahLst/>
              <a:cxnLst/>
              <a:rect l="l" t="t" r="r" b="b"/>
              <a:pathLst>
                <a:path w="4316730" h="1445514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lnTo>
                    <a:pt x="4075811" y="0"/>
                  </a:lnTo>
                  <a:cubicBezTo>
                    <a:pt x="4208907" y="0"/>
                    <a:pt x="4316730" y="107823"/>
                    <a:pt x="4316730" y="240919"/>
                  </a:cubicBezTo>
                  <a:lnTo>
                    <a:pt x="4316730" y="1204595"/>
                  </a:lnTo>
                  <a:cubicBezTo>
                    <a:pt x="4316730" y="1337691"/>
                    <a:pt x="4208907" y="1445514"/>
                    <a:pt x="4075811" y="1445514"/>
                  </a:cubicBezTo>
                  <a:lnTo>
                    <a:pt x="240919" y="1445514"/>
                  </a:lnTo>
                  <a:cubicBezTo>
                    <a:pt x="107823" y="1445514"/>
                    <a:pt x="0" y="1337691"/>
                    <a:pt x="0" y="1204595"/>
                  </a:cubicBezTo>
                  <a:close/>
                </a:path>
              </a:pathLst>
            </a:custGeom>
            <a:solidFill>
              <a:srgbClr val="EFEB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10748772" y="8481060"/>
            <a:ext cx="2903220" cy="484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≈ 0.01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748772" y="9445752"/>
            <a:ext cx="282092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944" b="1">
                <a:solidFill>
                  <a:srgbClr val="687787"/>
                </a:solidFill>
                <a:latin typeface="Aptos Bold"/>
                <a:ea typeface="Aptos Bold"/>
                <a:cs typeface="Aptos Bold"/>
                <a:sym typeface="Aptos Bold"/>
              </a:rPr>
              <a:t>OVERLAP LEVEL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58775" y="9298646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6399" y="476953"/>
            <a:ext cx="16445031" cy="8909613"/>
          </a:xfrm>
          <a:custGeom>
            <a:avLst/>
            <a:gdLst/>
            <a:ahLst/>
            <a:cxnLst/>
            <a:rect l="l" t="t" r="r" b="b"/>
            <a:pathLst>
              <a:path w="16445031" h="8909613">
                <a:moveTo>
                  <a:pt x="0" y="0"/>
                </a:moveTo>
                <a:lnTo>
                  <a:pt x="16445030" y="0"/>
                </a:lnTo>
                <a:lnTo>
                  <a:pt x="16445030" y="8909613"/>
                </a:lnTo>
                <a:lnTo>
                  <a:pt x="0" y="8909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8386" y="9310366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8992" y="882396"/>
            <a:ext cx="1559052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849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Temporal Attention Validation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6424" y="1650492"/>
            <a:ext cx="1517904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079" b="1">
                <a:solidFill>
                  <a:srgbClr val="687787"/>
                </a:solidFill>
                <a:latin typeface="Aptos Bold"/>
                <a:ea typeface="Aptos Bold"/>
                <a:cs typeface="Aptos Bold"/>
                <a:sym typeface="Aptos Bold"/>
              </a:rPr>
              <a:t>The key research test: does model attention actually move with tumor evolution?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36792" y="2606040"/>
            <a:ext cx="5623560" cy="5006340"/>
            <a:chOff x="0" y="0"/>
            <a:chExt cx="7498080" cy="66751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98080" cy="6675120"/>
            </a:xfrm>
            <a:custGeom>
              <a:avLst/>
              <a:gdLst/>
              <a:ahLst/>
              <a:cxnLst/>
              <a:rect l="l" t="t" r="r" b="b"/>
              <a:pathLst>
                <a:path w="7498080" h="6675120">
                  <a:moveTo>
                    <a:pt x="0" y="1112520"/>
                  </a:moveTo>
                  <a:cubicBezTo>
                    <a:pt x="0" y="498094"/>
                    <a:pt x="498094" y="0"/>
                    <a:pt x="1112520" y="0"/>
                  </a:cubicBezTo>
                  <a:lnTo>
                    <a:pt x="6385560" y="0"/>
                  </a:lnTo>
                  <a:cubicBezTo>
                    <a:pt x="6999986" y="0"/>
                    <a:pt x="7498080" y="498094"/>
                    <a:pt x="7498080" y="1112520"/>
                  </a:cubicBezTo>
                  <a:lnTo>
                    <a:pt x="7498080" y="5562600"/>
                  </a:lnTo>
                  <a:cubicBezTo>
                    <a:pt x="7498080" y="6177026"/>
                    <a:pt x="6999986" y="6675120"/>
                    <a:pt x="6385560" y="6675120"/>
                  </a:cubicBezTo>
                  <a:lnTo>
                    <a:pt x="1112520" y="6675120"/>
                  </a:lnTo>
                  <a:cubicBezTo>
                    <a:pt x="498094" y="6675120"/>
                    <a:pt x="0" y="6177026"/>
                    <a:pt x="0" y="5562600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80860" y="3141345"/>
            <a:ext cx="454914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9"/>
              </a:lnSpc>
            </a:pPr>
            <a:r>
              <a:rPr lang="en-US" sz="3324" b="1">
                <a:solidFill>
                  <a:srgbClr val="A9E2DC"/>
                </a:solidFill>
                <a:latin typeface="Aptos Bold"/>
                <a:ea typeface="Aptos Bold"/>
                <a:cs typeface="Aptos Bold"/>
                <a:sym typeface="Aptos Bold"/>
              </a:rPr>
              <a:t>TEMPORAL ALIGNMENT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18020" y="3954780"/>
            <a:ext cx="420624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Attention change</a:t>
            </a:r>
          </a:p>
          <a:p>
            <a:pPr algn="ctr">
              <a:lnSpc>
                <a:spcPts val="3419"/>
              </a:lnSpc>
            </a:pPr>
            <a:r>
              <a:rPr lang="en-US" sz="28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vs. tumor change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18020" y="5189220"/>
            <a:ext cx="420624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4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Single-layer: 0.0039</a:t>
            </a:r>
          </a:p>
          <a:p>
            <a:pPr algn="ctr">
              <a:lnSpc>
                <a:spcPts val="3419"/>
              </a:lnSpc>
            </a:pPr>
            <a:r>
              <a:rPr lang="en-US" sz="284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Multi-layer: −0.0012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104888" y="6240780"/>
            <a:ext cx="4046220" cy="734568"/>
            <a:chOff x="0" y="0"/>
            <a:chExt cx="5394960" cy="9794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94960" cy="979424"/>
            </a:xfrm>
            <a:custGeom>
              <a:avLst/>
              <a:gdLst/>
              <a:ahLst/>
              <a:cxnLst/>
              <a:rect l="l" t="t" r="r" b="b"/>
              <a:pathLst>
                <a:path w="5394960" h="979424">
                  <a:moveTo>
                    <a:pt x="0" y="163237"/>
                  </a:moveTo>
                  <a:cubicBezTo>
                    <a:pt x="0" y="73073"/>
                    <a:pt x="53213" y="0"/>
                    <a:pt x="118872" y="0"/>
                  </a:cubicBezTo>
                  <a:lnTo>
                    <a:pt x="5276088" y="0"/>
                  </a:lnTo>
                  <a:cubicBezTo>
                    <a:pt x="5341747" y="0"/>
                    <a:pt x="5394960" y="73073"/>
                    <a:pt x="5394960" y="163237"/>
                  </a:cubicBezTo>
                  <a:lnTo>
                    <a:pt x="5394960" y="816187"/>
                  </a:lnTo>
                  <a:cubicBezTo>
                    <a:pt x="5394960" y="906351"/>
                    <a:pt x="5341747" y="979424"/>
                    <a:pt x="5276088" y="979424"/>
                  </a:cubicBezTo>
                  <a:lnTo>
                    <a:pt x="118872" y="979424"/>
                  </a:lnTo>
                  <a:cubicBezTo>
                    <a:pt x="53213" y="979424"/>
                    <a:pt x="0" y="906351"/>
                    <a:pt x="0" y="816187"/>
                  </a:cubicBezTo>
                  <a:close/>
                </a:path>
              </a:pathLst>
            </a:custGeom>
            <a:solidFill>
              <a:srgbClr val="FAEEE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7766816" y="6409944"/>
            <a:ext cx="272236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4"/>
              </a:lnSpc>
            </a:pPr>
            <a:r>
              <a:rPr lang="en-US" sz="2403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ALIGNMENT ≈ ZERO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17568" y="2845784"/>
            <a:ext cx="4334828" cy="1865948"/>
            <a:chOff x="0" y="0"/>
            <a:chExt cx="5779770" cy="24879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79770" cy="2487930"/>
            </a:xfrm>
            <a:custGeom>
              <a:avLst/>
              <a:gdLst/>
              <a:ahLst/>
              <a:cxnLst/>
              <a:rect l="l" t="t" r="r" b="b"/>
              <a:pathLst>
                <a:path w="5779770" h="248793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5365115" y="0"/>
                  </a:lnTo>
                  <a:cubicBezTo>
                    <a:pt x="5594096" y="0"/>
                    <a:pt x="5779770" y="185674"/>
                    <a:pt x="5779770" y="414655"/>
                  </a:cubicBezTo>
                  <a:lnTo>
                    <a:pt x="5779770" y="2073275"/>
                  </a:lnTo>
                  <a:cubicBezTo>
                    <a:pt x="5779770" y="2302256"/>
                    <a:pt x="5594096" y="2487930"/>
                    <a:pt x="53651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E2F4E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124712" y="2852928"/>
            <a:ext cx="89154" cy="1851660"/>
            <a:chOff x="0" y="0"/>
            <a:chExt cx="118872" cy="24688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8872" cy="2468880"/>
            </a:xfrm>
            <a:custGeom>
              <a:avLst/>
              <a:gdLst/>
              <a:ahLst/>
              <a:cxnLst/>
              <a:rect l="l" t="t" r="r" b="b"/>
              <a:pathLst>
                <a:path w="118872" h="2468880">
                  <a:moveTo>
                    <a:pt x="0" y="0"/>
                  </a:moveTo>
                  <a:lnTo>
                    <a:pt x="118872" y="0"/>
                  </a:lnTo>
                  <a:lnTo>
                    <a:pt x="118872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1A8782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517904" y="3118104"/>
            <a:ext cx="3561588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WILCOXON TESTS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2791" y="3565274"/>
            <a:ext cx="35615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 &gt; 0.05</a:t>
            </a:r>
          </a:p>
          <a:p>
            <a:pPr algn="l">
              <a:lnSpc>
                <a:spcPts val="2489"/>
              </a:lnSpc>
            </a:pPr>
            <a:r>
              <a:rPr lang="en-US" sz="207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No significant temporal alignment.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17568" y="5506688"/>
            <a:ext cx="4334828" cy="1865948"/>
            <a:chOff x="0" y="0"/>
            <a:chExt cx="5779770" cy="24879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779770" cy="2487930"/>
            </a:xfrm>
            <a:custGeom>
              <a:avLst/>
              <a:gdLst/>
              <a:ahLst/>
              <a:cxnLst/>
              <a:rect l="l" t="t" r="r" b="b"/>
              <a:pathLst>
                <a:path w="5779770" h="2487930">
                  <a:moveTo>
                    <a:pt x="0" y="414655"/>
                  </a:moveTo>
                  <a:cubicBezTo>
                    <a:pt x="0" y="185674"/>
                    <a:pt x="185674" y="0"/>
                    <a:pt x="414655" y="0"/>
                  </a:cubicBezTo>
                  <a:lnTo>
                    <a:pt x="5365115" y="0"/>
                  </a:lnTo>
                  <a:cubicBezTo>
                    <a:pt x="5594096" y="0"/>
                    <a:pt x="5779770" y="185674"/>
                    <a:pt x="5779770" y="414655"/>
                  </a:cubicBezTo>
                  <a:lnTo>
                    <a:pt x="5779770" y="2073275"/>
                  </a:lnTo>
                  <a:cubicBezTo>
                    <a:pt x="5779770" y="2302256"/>
                    <a:pt x="5594096" y="2487930"/>
                    <a:pt x="5365115" y="2487930"/>
                  </a:cubicBezTo>
                  <a:lnTo>
                    <a:pt x="414655" y="2487930"/>
                  </a:lnTo>
                  <a:cubicBezTo>
                    <a:pt x="185674" y="2487930"/>
                    <a:pt x="0" y="2302256"/>
                    <a:pt x="0" y="2073275"/>
                  </a:cubicBezTo>
                  <a:close/>
                </a:path>
              </a:pathLst>
            </a:custGeom>
            <a:solidFill>
              <a:srgbClr val="E5EF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124712" y="5513832"/>
            <a:ext cx="89154" cy="1851660"/>
            <a:chOff x="0" y="0"/>
            <a:chExt cx="118872" cy="24688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872" cy="2468880"/>
            </a:xfrm>
            <a:custGeom>
              <a:avLst/>
              <a:gdLst/>
              <a:ahLst/>
              <a:cxnLst/>
              <a:rect l="l" t="t" r="r" b="b"/>
              <a:pathLst>
                <a:path w="118872" h="2468880">
                  <a:moveTo>
                    <a:pt x="0" y="0"/>
                  </a:moveTo>
                  <a:lnTo>
                    <a:pt x="118872" y="0"/>
                  </a:lnTo>
                  <a:lnTo>
                    <a:pt x="118872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517904" y="5779008"/>
            <a:ext cx="3561588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CENTROID MOVEMENT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17904" y="6327648"/>
            <a:ext cx="356158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Pearson r = 0.0549</a:t>
            </a:r>
          </a:p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 = 0.777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405836" y="3490436"/>
            <a:ext cx="4784884" cy="3281458"/>
            <a:chOff x="0" y="0"/>
            <a:chExt cx="6379845" cy="437527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79845" cy="4375277"/>
            </a:xfrm>
            <a:custGeom>
              <a:avLst/>
              <a:gdLst/>
              <a:ahLst/>
              <a:cxnLst/>
              <a:rect l="l" t="t" r="r" b="b"/>
              <a:pathLst>
                <a:path w="6379845" h="4375277">
                  <a:moveTo>
                    <a:pt x="0" y="729213"/>
                  </a:moveTo>
                  <a:cubicBezTo>
                    <a:pt x="0" y="326499"/>
                    <a:pt x="330067" y="0"/>
                    <a:pt x="737181" y="0"/>
                  </a:cubicBezTo>
                  <a:lnTo>
                    <a:pt x="5642664" y="0"/>
                  </a:lnTo>
                  <a:cubicBezTo>
                    <a:pt x="6049778" y="0"/>
                    <a:pt x="6379845" y="326499"/>
                    <a:pt x="6379845" y="729213"/>
                  </a:cubicBezTo>
                  <a:lnTo>
                    <a:pt x="6379845" y="3646064"/>
                  </a:lnTo>
                  <a:cubicBezTo>
                    <a:pt x="6379845" y="4048778"/>
                    <a:pt x="6049778" y="4375277"/>
                    <a:pt x="5642664" y="4375277"/>
                  </a:cubicBezTo>
                  <a:lnTo>
                    <a:pt x="737181" y="4375277"/>
                  </a:lnTo>
                  <a:cubicBezTo>
                    <a:pt x="330067" y="4375277"/>
                    <a:pt x="0" y="4048778"/>
                    <a:pt x="0" y="3646064"/>
                  </a:cubicBezTo>
                  <a:close/>
                </a:path>
              </a:pathLst>
            </a:custGeom>
            <a:solidFill>
              <a:srgbClr val="EFEB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2412980" y="3497580"/>
            <a:ext cx="89154" cy="3086100"/>
            <a:chOff x="0" y="0"/>
            <a:chExt cx="118872" cy="4114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8872" cy="4114800"/>
            </a:xfrm>
            <a:custGeom>
              <a:avLst/>
              <a:gdLst/>
              <a:ahLst/>
              <a:cxnLst/>
              <a:rect l="l" t="t" r="r" b="b"/>
              <a:pathLst>
                <a:path w="118872" h="4114800">
                  <a:moveTo>
                    <a:pt x="0" y="0"/>
                  </a:moveTo>
                  <a:lnTo>
                    <a:pt x="118872" y="0"/>
                  </a:lnTo>
                  <a:lnTo>
                    <a:pt x="118872" y="4114800"/>
                  </a:lnTo>
                  <a:lnTo>
                    <a:pt x="0" y="4114800"/>
                  </a:ln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2806172" y="3762756"/>
            <a:ext cx="304478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24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INTERPRETATION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59334" y="4335780"/>
            <a:ext cx="3885390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expected hypothesis that model attention would reliably follow actual tumor evolution was not supported.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89306" y="141968"/>
            <a:ext cx="13298999" cy="9957373"/>
          </a:xfrm>
          <a:custGeom>
            <a:avLst/>
            <a:gdLst/>
            <a:ahLst/>
            <a:cxnLst/>
            <a:rect l="l" t="t" r="r" b="b"/>
            <a:pathLst>
              <a:path w="13298999" h="9957373">
                <a:moveTo>
                  <a:pt x="0" y="0"/>
                </a:moveTo>
                <a:lnTo>
                  <a:pt x="13298999" y="0"/>
                </a:lnTo>
                <a:lnTo>
                  <a:pt x="13298999" y="9957372"/>
                </a:lnTo>
                <a:lnTo>
                  <a:pt x="0" y="9957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4889" y="9352803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8992" y="882396"/>
            <a:ext cx="1559052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Final Test Results &amp; Key Findings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6424" y="1650492"/>
            <a:ext cx="1517904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687787"/>
                </a:solidFill>
                <a:latin typeface="Aptos"/>
                <a:ea typeface="Aptos"/>
                <a:cs typeface="Aptos"/>
                <a:sym typeface="Aptos"/>
              </a:rPr>
              <a:t>The untouched 45-patient test set revealed the final comparative result.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97280" y="2578608"/>
            <a:ext cx="7749540" cy="5417820"/>
            <a:chOff x="0" y="0"/>
            <a:chExt cx="10332720" cy="7223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32720" cy="7223760"/>
            </a:xfrm>
            <a:custGeom>
              <a:avLst/>
              <a:gdLst/>
              <a:ahLst/>
              <a:cxnLst/>
              <a:rect l="l" t="t" r="r" b="b"/>
              <a:pathLst>
                <a:path w="10332720" h="7223760">
                  <a:moveTo>
                    <a:pt x="0" y="1203960"/>
                  </a:moveTo>
                  <a:cubicBezTo>
                    <a:pt x="0" y="538988"/>
                    <a:pt x="538988" y="0"/>
                    <a:pt x="1203960" y="0"/>
                  </a:cubicBezTo>
                  <a:lnTo>
                    <a:pt x="9128760" y="0"/>
                  </a:lnTo>
                  <a:cubicBezTo>
                    <a:pt x="9793732" y="0"/>
                    <a:pt x="10332720" y="538988"/>
                    <a:pt x="10332720" y="1203960"/>
                  </a:cubicBezTo>
                  <a:lnTo>
                    <a:pt x="10332720" y="6019800"/>
                  </a:lnTo>
                  <a:cubicBezTo>
                    <a:pt x="10332720" y="6684772"/>
                    <a:pt x="9793732" y="7223760"/>
                    <a:pt x="9128760" y="7223760"/>
                  </a:cubicBezTo>
                  <a:lnTo>
                    <a:pt x="1203960" y="7223760"/>
                  </a:lnTo>
                  <a:cubicBezTo>
                    <a:pt x="538988" y="7223760"/>
                    <a:pt x="0" y="6684772"/>
                    <a:pt x="0" y="6019800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37360" y="3131820"/>
            <a:ext cx="646938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A9E2DC"/>
                </a:solidFill>
                <a:latin typeface="Aptos Bold"/>
                <a:ea typeface="Aptos Bold"/>
                <a:cs typeface="Aptos Bold"/>
                <a:sym typeface="Aptos Bold"/>
              </a:rPr>
              <a:t>CLINICAL-ONLY BASELINE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7360" y="4091940"/>
            <a:ext cx="646938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73.33%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7360" y="5120640"/>
            <a:ext cx="646938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A9E2DC"/>
                </a:solidFill>
                <a:latin typeface="Aptos Bold"/>
                <a:ea typeface="Aptos Bold"/>
                <a:cs typeface="Aptos Bold"/>
                <a:sym typeface="Aptos Bold"/>
              </a:rPr>
              <a:t>TEST ACCURACY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7360" y="5943600"/>
            <a:ext cx="646938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Macro-F1  •  0.6616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88316" y="2571464"/>
            <a:ext cx="7763828" cy="5432108"/>
            <a:chOff x="0" y="0"/>
            <a:chExt cx="10351770" cy="72428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351770" cy="7242811"/>
            </a:xfrm>
            <a:custGeom>
              <a:avLst/>
              <a:gdLst/>
              <a:ahLst/>
              <a:cxnLst/>
              <a:rect l="l" t="t" r="r" b="b"/>
              <a:pathLst>
                <a:path w="10351770" h="7242811">
                  <a:moveTo>
                    <a:pt x="0" y="1207135"/>
                  </a:moveTo>
                  <a:cubicBezTo>
                    <a:pt x="0" y="540512"/>
                    <a:pt x="540512" y="0"/>
                    <a:pt x="1207135" y="0"/>
                  </a:cubicBezTo>
                  <a:lnTo>
                    <a:pt x="9144635" y="0"/>
                  </a:lnTo>
                  <a:cubicBezTo>
                    <a:pt x="9811385" y="0"/>
                    <a:pt x="10351770" y="540512"/>
                    <a:pt x="10351770" y="1207135"/>
                  </a:cubicBezTo>
                  <a:lnTo>
                    <a:pt x="10351770" y="6035675"/>
                  </a:lnTo>
                  <a:cubicBezTo>
                    <a:pt x="10351770" y="6702425"/>
                    <a:pt x="9811258" y="7242811"/>
                    <a:pt x="9144635" y="7242811"/>
                  </a:cubicBezTo>
                  <a:lnTo>
                    <a:pt x="1207135" y="7242811"/>
                  </a:lnTo>
                  <a:cubicBezTo>
                    <a:pt x="540512" y="7242810"/>
                    <a:pt x="0" y="6702298"/>
                    <a:pt x="0" y="6035675"/>
                  </a:cubicBezTo>
                  <a:close/>
                </a:path>
              </a:pathLst>
            </a:custGeom>
            <a:solidFill>
              <a:srgbClr val="E2F4E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0035540" y="3131820"/>
            <a:ext cx="646938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FINAL MRI MODEL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35540" y="4091940"/>
            <a:ext cx="646938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3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46.67%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35540" y="5120640"/>
            <a:ext cx="646938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TEST ACCURACY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35540" y="5943600"/>
            <a:ext cx="646938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Macro-F1  •  0.3051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829300" y="8435340"/>
            <a:ext cx="6583680" cy="534924"/>
            <a:chOff x="0" y="0"/>
            <a:chExt cx="8778240" cy="7132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78240" cy="713232"/>
            </a:xfrm>
            <a:custGeom>
              <a:avLst/>
              <a:gdLst/>
              <a:ahLst/>
              <a:cxnLst/>
              <a:rect l="l" t="t" r="r" b="b"/>
              <a:pathLst>
                <a:path w="8778240" h="713232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8659368" y="0"/>
                  </a:lnTo>
                  <a:cubicBezTo>
                    <a:pt x="8725027" y="0"/>
                    <a:pt x="8778240" y="53213"/>
                    <a:pt x="8778240" y="118872"/>
                  </a:cubicBezTo>
                  <a:lnTo>
                    <a:pt x="8778240" y="594360"/>
                  </a:lnTo>
                  <a:cubicBezTo>
                    <a:pt x="8778240" y="660019"/>
                    <a:pt x="8725027" y="713232"/>
                    <a:pt x="8659368" y="713232"/>
                  </a:cubicBezTo>
                  <a:lnTo>
                    <a:pt x="118872" y="713232"/>
                  </a:lnTo>
                  <a:cubicBezTo>
                    <a:pt x="53213" y="713232"/>
                    <a:pt x="0" y="660019"/>
                    <a:pt x="0" y="594360"/>
                  </a:cubicBezTo>
                  <a:close/>
                </a:path>
              </a:pathLst>
            </a:custGeom>
            <a:solidFill>
              <a:srgbClr val="FAEEE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6281678" y="8604504"/>
            <a:ext cx="567892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McNEMAR EXACT TEST  •  p = 0.028959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624" y="745849"/>
            <a:ext cx="17154752" cy="8512451"/>
          </a:xfrm>
          <a:custGeom>
            <a:avLst/>
            <a:gdLst/>
            <a:ahLst/>
            <a:cxnLst/>
            <a:rect l="l" t="t" r="r" b="b"/>
            <a:pathLst>
              <a:path w="17154752" h="8512451">
                <a:moveTo>
                  <a:pt x="0" y="0"/>
                </a:moveTo>
                <a:lnTo>
                  <a:pt x="17154752" y="0"/>
                </a:lnTo>
                <a:lnTo>
                  <a:pt x="17154752" y="8512451"/>
                </a:lnTo>
                <a:lnTo>
                  <a:pt x="0" y="8512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8992" y="882396"/>
            <a:ext cx="1559052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Digital Twin, Contribution &amp; Future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6424" y="1650492"/>
            <a:ext cx="1517904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687787"/>
                </a:solidFill>
                <a:latin typeface="Aptos"/>
                <a:ea typeface="Aptos"/>
                <a:cs typeface="Aptos"/>
                <a:sym typeface="Aptos"/>
              </a:rPr>
              <a:t>The research outcome is broader than the final accuracy number.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62704" y="2544032"/>
            <a:ext cx="5912168" cy="6529388"/>
            <a:chOff x="0" y="0"/>
            <a:chExt cx="7882890" cy="8705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882890" cy="8705850"/>
            </a:xfrm>
            <a:custGeom>
              <a:avLst/>
              <a:gdLst/>
              <a:ahLst/>
              <a:cxnLst/>
              <a:rect l="l" t="t" r="r" b="b"/>
              <a:pathLst>
                <a:path w="7882890" h="8705850">
                  <a:moveTo>
                    <a:pt x="0" y="1313815"/>
                  </a:moveTo>
                  <a:cubicBezTo>
                    <a:pt x="0" y="588264"/>
                    <a:pt x="588264" y="0"/>
                    <a:pt x="1313815" y="0"/>
                  </a:cubicBezTo>
                  <a:lnTo>
                    <a:pt x="6569075" y="0"/>
                  </a:lnTo>
                  <a:cubicBezTo>
                    <a:pt x="7294626" y="0"/>
                    <a:pt x="7882890" y="588264"/>
                    <a:pt x="7882890" y="1313815"/>
                  </a:cubicBezTo>
                  <a:lnTo>
                    <a:pt x="7882890" y="7392035"/>
                  </a:lnTo>
                  <a:cubicBezTo>
                    <a:pt x="7882890" y="8117713"/>
                    <a:pt x="7294626" y="8705850"/>
                    <a:pt x="6569075" y="8705850"/>
                  </a:cubicBezTo>
                  <a:lnTo>
                    <a:pt x="1313815" y="8705850"/>
                  </a:lnTo>
                  <a:cubicBezTo>
                    <a:pt x="588264" y="8705850"/>
                    <a:pt x="0" y="8117586"/>
                    <a:pt x="0" y="739203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600200" y="3035808"/>
            <a:ext cx="482346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DIGITAL TWIN PROTOTYPE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851660" y="4114800"/>
            <a:ext cx="987552" cy="987552"/>
            <a:chOff x="0" y="0"/>
            <a:chExt cx="1316736" cy="13167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145530" y="4503420"/>
            <a:ext cx="39981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MRI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320540" y="4114800"/>
            <a:ext cx="987552" cy="987552"/>
            <a:chOff x="0" y="0"/>
            <a:chExt cx="1316736" cy="13167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315146" y="4503420"/>
            <a:ext cx="998339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CLINICAL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086100" y="6103620"/>
            <a:ext cx="987552" cy="987552"/>
            <a:chOff x="0" y="0"/>
            <a:chExt cx="1316736" cy="13167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3177540" y="6492240"/>
            <a:ext cx="804672" cy="15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TEMPORAL</a:t>
            </a:r>
          </a:p>
        </p:txBody>
      </p:sp>
      <p:sp>
        <p:nvSpPr>
          <p:cNvPr id="16" name="AutoShape 16"/>
          <p:cNvSpPr/>
          <p:nvPr/>
        </p:nvSpPr>
        <p:spPr>
          <a:xfrm rot="2447400">
            <a:off x="2122065" y="5593461"/>
            <a:ext cx="1585160" cy="0"/>
          </a:xfrm>
          <a:prstGeom prst="line">
            <a:avLst/>
          </a:prstGeom>
          <a:ln w="19050" cap="rnd">
            <a:solidFill>
              <a:srgbClr val="466FA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flipH="1">
            <a:off x="3918929" y="5085209"/>
            <a:ext cx="898821" cy="1057582"/>
          </a:xfrm>
          <a:prstGeom prst="line">
            <a:avLst/>
          </a:prstGeom>
          <a:ln w="19050" cap="rnd">
            <a:solidFill>
              <a:srgbClr val="1A878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2359152" y="7269480"/>
            <a:ext cx="3634740" cy="987552"/>
            <a:chOff x="0" y="0"/>
            <a:chExt cx="4846320" cy="13167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46320" cy="1316736"/>
            </a:xfrm>
            <a:custGeom>
              <a:avLst/>
              <a:gdLst/>
              <a:ahLst/>
              <a:cxnLst/>
              <a:rect l="l" t="t" r="r" b="b"/>
              <a:pathLst>
                <a:path w="4846320" h="1316736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626864" y="0"/>
                  </a:lnTo>
                  <a:cubicBezTo>
                    <a:pt x="4748022" y="0"/>
                    <a:pt x="4846320" y="98298"/>
                    <a:pt x="4846320" y="219456"/>
                  </a:cubicBezTo>
                  <a:lnTo>
                    <a:pt x="4846320" y="1097280"/>
                  </a:lnTo>
                  <a:cubicBezTo>
                    <a:pt x="4846320" y="1218438"/>
                    <a:pt x="4748022" y="1316736"/>
                    <a:pt x="4626864" y="1316736"/>
                  </a:cubicBezTo>
                  <a:lnTo>
                    <a:pt x="219456" y="1316736"/>
                  </a:lnTo>
                  <a:cubicBezTo>
                    <a:pt x="98298" y="1316736"/>
                    <a:pt x="0" y="1218438"/>
                    <a:pt x="0" y="1097280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2492514" y="7644384"/>
            <a:ext cx="338173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128-D LATENT REPRESENTATION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468076" y="2544032"/>
            <a:ext cx="4334828" cy="2277428"/>
            <a:chOff x="0" y="0"/>
            <a:chExt cx="5779770" cy="30365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79770" cy="3036570"/>
            </a:xfrm>
            <a:custGeom>
              <a:avLst/>
              <a:gdLst/>
              <a:ahLst/>
              <a:cxnLst/>
              <a:rect l="l" t="t" r="r" b="b"/>
              <a:pathLst>
                <a:path w="5779770" h="3036570">
                  <a:moveTo>
                    <a:pt x="0" y="506095"/>
                  </a:moveTo>
                  <a:cubicBezTo>
                    <a:pt x="0" y="226568"/>
                    <a:pt x="226568" y="0"/>
                    <a:pt x="506095" y="0"/>
                  </a:cubicBezTo>
                  <a:lnTo>
                    <a:pt x="5273675" y="0"/>
                  </a:lnTo>
                  <a:cubicBezTo>
                    <a:pt x="5553202" y="0"/>
                    <a:pt x="5779770" y="226568"/>
                    <a:pt x="5779770" y="506095"/>
                  </a:cubicBezTo>
                  <a:lnTo>
                    <a:pt x="5779770" y="2530475"/>
                  </a:lnTo>
                  <a:cubicBezTo>
                    <a:pt x="5779770" y="2810002"/>
                    <a:pt x="5553202" y="3036570"/>
                    <a:pt x="5273675" y="3036570"/>
                  </a:cubicBezTo>
                  <a:lnTo>
                    <a:pt x="506095" y="3036570"/>
                  </a:lnTo>
                  <a:cubicBezTo>
                    <a:pt x="226568" y="3036570"/>
                    <a:pt x="0" y="2810002"/>
                    <a:pt x="0" y="2530475"/>
                  </a:cubicBezTo>
                  <a:close/>
                </a:path>
              </a:pathLst>
            </a:custGeom>
            <a:solidFill>
              <a:srgbClr val="E2F4EF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5220" y="2551176"/>
            <a:ext cx="89154" cy="2263140"/>
            <a:chOff x="0" y="0"/>
            <a:chExt cx="118872" cy="3017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8872" cy="3017520"/>
            </a:xfrm>
            <a:custGeom>
              <a:avLst/>
              <a:gdLst/>
              <a:ahLst/>
              <a:cxnLst/>
              <a:rect l="l" t="t" r="r" b="b"/>
              <a:pathLst>
                <a:path w="118872" h="3017520">
                  <a:moveTo>
                    <a:pt x="0" y="0"/>
                  </a:moveTo>
                  <a:lnTo>
                    <a:pt x="118872" y="0"/>
                  </a:lnTo>
                  <a:lnTo>
                    <a:pt x="118872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1A8782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7868412" y="2816352"/>
            <a:ext cx="236886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CONTRIBUTION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68412" y="3364992"/>
            <a:ext cx="3561588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Attention was quantitatively tested against actual tumor evolution.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337256" y="2544032"/>
            <a:ext cx="4471988" cy="2277428"/>
            <a:chOff x="0" y="0"/>
            <a:chExt cx="5962650" cy="30365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962650" cy="3036570"/>
            </a:xfrm>
            <a:custGeom>
              <a:avLst/>
              <a:gdLst/>
              <a:ahLst/>
              <a:cxnLst/>
              <a:rect l="l" t="t" r="r" b="b"/>
              <a:pathLst>
                <a:path w="5962650" h="3036570">
                  <a:moveTo>
                    <a:pt x="0" y="506095"/>
                  </a:moveTo>
                  <a:cubicBezTo>
                    <a:pt x="0" y="226568"/>
                    <a:pt x="226568" y="0"/>
                    <a:pt x="506095" y="0"/>
                  </a:cubicBezTo>
                  <a:lnTo>
                    <a:pt x="5456555" y="0"/>
                  </a:lnTo>
                  <a:cubicBezTo>
                    <a:pt x="5736082" y="0"/>
                    <a:pt x="5962650" y="226568"/>
                    <a:pt x="5962650" y="506095"/>
                  </a:cubicBezTo>
                  <a:lnTo>
                    <a:pt x="5962650" y="2530475"/>
                  </a:lnTo>
                  <a:cubicBezTo>
                    <a:pt x="5962650" y="2810002"/>
                    <a:pt x="5736082" y="3036570"/>
                    <a:pt x="5456555" y="3036570"/>
                  </a:cubicBezTo>
                  <a:lnTo>
                    <a:pt x="506095" y="3036570"/>
                  </a:lnTo>
                  <a:cubicBezTo>
                    <a:pt x="226568" y="3036570"/>
                    <a:pt x="0" y="2810002"/>
                    <a:pt x="0" y="2530475"/>
                  </a:cubicBezTo>
                  <a:close/>
                </a:path>
              </a:pathLst>
            </a:custGeom>
            <a:solidFill>
              <a:srgbClr val="E5EFF9"/>
            </a:solidFill>
            <a:ln w="14288" cap="sq">
              <a:solidFill>
                <a:srgbClr val="DBE3EB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2344400" y="2551176"/>
            <a:ext cx="89154" cy="2263140"/>
            <a:chOff x="0" y="0"/>
            <a:chExt cx="118872" cy="3017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8872" cy="3017520"/>
            </a:xfrm>
            <a:custGeom>
              <a:avLst/>
              <a:gdLst/>
              <a:ahLst/>
              <a:cxnLst/>
              <a:rect l="l" t="t" r="r" b="b"/>
              <a:pathLst>
                <a:path w="118872" h="3017520">
                  <a:moveTo>
                    <a:pt x="0" y="0"/>
                  </a:moveTo>
                  <a:lnTo>
                    <a:pt x="118872" y="0"/>
                  </a:lnTo>
                  <a:lnTo>
                    <a:pt x="118872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2737592" y="2816352"/>
            <a:ext cx="299037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WHAT WE LEARNED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37592" y="3364992"/>
            <a:ext cx="369874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MRI longitudinal model did not outperform the clinical-only baseline.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66660" y="5463540"/>
            <a:ext cx="9144000" cy="25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1A8782"/>
                </a:solidFill>
                <a:latin typeface="Aptos Bold"/>
                <a:ea typeface="Aptos Bold"/>
                <a:cs typeface="Aptos Bold"/>
                <a:sym typeface="Aptos Bold"/>
              </a:rPr>
              <a:t>FUTURE WORK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612380" y="6062472"/>
            <a:ext cx="493776" cy="493776"/>
            <a:chOff x="0" y="0"/>
            <a:chExt cx="658368" cy="6583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A8782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7791402" y="6235827"/>
            <a:ext cx="13573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58200" y="6053328"/>
            <a:ext cx="366450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More longitudinal timepoints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940546" y="6064377"/>
            <a:ext cx="413766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Capture richer temporal dynamics.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612380" y="6995160"/>
            <a:ext cx="493776" cy="493776"/>
            <a:chOff x="0" y="0"/>
            <a:chExt cx="658368" cy="6583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466FAE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7791402" y="7168515"/>
            <a:ext cx="13573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58200" y="6986016"/>
            <a:ext cx="311158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Larger / external cohorts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940546" y="6986016"/>
            <a:ext cx="413766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Improve robustness and generalization.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7612380" y="7927848"/>
            <a:ext cx="493776" cy="493776"/>
            <a:chOff x="0" y="0"/>
            <a:chExt cx="658368" cy="65836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92F49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7791402" y="8101203"/>
            <a:ext cx="13573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58200" y="7918704"/>
            <a:ext cx="412992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Stronger localization &amp; modeling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940546" y="7911084"/>
            <a:ext cx="413766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Improve attention–tumor correspondence.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4889" y="9439797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48760" y="231654"/>
            <a:ext cx="10408717" cy="9157136"/>
          </a:xfrm>
          <a:custGeom>
            <a:avLst/>
            <a:gdLst/>
            <a:ahLst/>
            <a:cxnLst/>
            <a:rect l="l" t="t" r="r" b="b"/>
            <a:pathLst>
              <a:path w="10408717" h="9157136">
                <a:moveTo>
                  <a:pt x="0" y="0"/>
                </a:moveTo>
                <a:lnTo>
                  <a:pt x="10408717" y="0"/>
                </a:lnTo>
                <a:lnTo>
                  <a:pt x="10408717" y="9157137"/>
                </a:lnTo>
                <a:lnTo>
                  <a:pt x="0" y="9157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346" y="9505043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23444"/>
            <a:chOff x="0" y="0"/>
            <a:chExt cx="24383390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64592"/>
            </a:xfrm>
            <a:custGeom>
              <a:avLst/>
              <a:gdLst/>
              <a:ahLst/>
              <a:cxnLst/>
              <a:rect l="l" t="t" r="r" b="b"/>
              <a:pathLst>
                <a:path w="24383364" h="164592">
                  <a:moveTo>
                    <a:pt x="0" y="0"/>
                  </a:moveTo>
                  <a:lnTo>
                    <a:pt x="24383364" y="0"/>
                  </a:lnTo>
                  <a:lnTo>
                    <a:pt x="2438336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A878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40180" y="1618488"/>
            <a:ext cx="1714500" cy="1714500"/>
            <a:chOff x="0" y="0"/>
            <a:chExt cx="22860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0" y="1143000"/>
                  </a:moveTo>
                  <a:cubicBezTo>
                    <a:pt x="0" y="511683"/>
                    <a:pt x="511683" y="0"/>
                    <a:pt x="1143000" y="0"/>
                  </a:cubicBezTo>
                  <a:cubicBezTo>
                    <a:pt x="1774317" y="0"/>
                    <a:pt x="2286000" y="511683"/>
                    <a:pt x="2286000" y="1143000"/>
                  </a:cubicBezTo>
                  <a:cubicBezTo>
                    <a:pt x="2286000" y="1774317"/>
                    <a:pt x="1774317" y="2286000"/>
                    <a:pt x="1143000" y="2286000"/>
                  </a:cubicBezTo>
                  <a:cubicBezTo>
                    <a:pt x="511683" y="2286000"/>
                    <a:pt x="0" y="1774317"/>
                    <a:pt x="0" y="1143000"/>
                  </a:cubicBezTo>
                  <a:close/>
                </a:path>
              </a:pathLst>
            </a:custGeom>
            <a:solidFill>
              <a:srgbClr val="E5EFF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156180" y="1508760"/>
            <a:ext cx="1988820" cy="1988820"/>
            <a:chOff x="0" y="0"/>
            <a:chExt cx="2651760" cy="2651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51760" cy="2651760"/>
            </a:xfrm>
            <a:custGeom>
              <a:avLst/>
              <a:gdLst/>
              <a:ahLst/>
              <a:cxnLst/>
              <a:rect l="l" t="t" r="r" b="b"/>
              <a:pathLst>
                <a:path w="2651760" h="2651760">
                  <a:moveTo>
                    <a:pt x="0" y="1325880"/>
                  </a:moveTo>
                  <a:cubicBezTo>
                    <a:pt x="0" y="593598"/>
                    <a:pt x="593598" y="0"/>
                    <a:pt x="1325880" y="0"/>
                  </a:cubicBezTo>
                  <a:cubicBezTo>
                    <a:pt x="2058162" y="0"/>
                    <a:pt x="2651760" y="593598"/>
                    <a:pt x="2651760" y="1325880"/>
                  </a:cubicBezTo>
                  <a:cubicBezTo>
                    <a:pt x="2651760" y="2058162"/>
                    <a:pt x="2058162" y="2651760"/>
                    <a:pt x="1325880" y="2651760"/>
                  </a:cubicBezTo>
                  <a:cubicBezTo>
                    <a:pt x="593598" y="2651760"/>
                    <a:pt x="0" y="2058162"/>
                    <a:pt x="0" y="1325880"/>
                  </a:cubicBezTo>
                  <a:close/>
                </a:path>
              </a:pathLst>
            </a:custGeom>
            <a:solidFill>
              <a:srgbClr val="E2F4E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5019020" y="7886700"/>
            <a:ext cx="1303020" cy="1303020"/>
            <a:chOff x="0" y="0"/>
            <a:chExt cx="1737360" cy="1737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EFEBF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77340" y="7886700"/>
            <a:ext cx="1165860" cy="1165860"/>
            <a:chOff x="0" y="0"/>
            <a:chExt cx="155448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FAEEE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463040" y="3396615"/>
            <a:ext cx="153162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850" b="1">
                <a:solidFill>
                  <a:srgbClr val="192F49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54680" y="4752975"/>
            <a:ext cx="1257300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92F49"/>
                </a:solidFill>
                <a:latin typeface="Aptos"/>
                <a:ea typeface="Aptos"/>
                <a:cs typeface="Aptos"/>
                <a:sym typeface="Aptos"/>
              </a:rPr>
              <a:t>Explainable Longitudinal Digital Twin for Glioma Progression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895" y="9091822"/>
            <a:ext cx="17230954" cy="5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9"/>
              </a:lnSpc>
            </a:pPr>
            <a:r>
              <a:rPr lang="en-US" sz="2875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901</Words>
  <Application>Microsoft Office PowerPoint</Application>
  <PresentationFormat>Custom</PresentationFormat>
  <Paragraphs>269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Noto Serif</vt:lpstr>
      <vt:lpstr>Calibri</vt:lpstr>
      <vt:lpstr>Noto Serif Bold</vt:lpstr>
      <vt:lpstr>Aptos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project</dc:title>
  <dc:creator>USER</dc:creator>
  <cp:lastModifiedBy>Microsoft account</cp:lastModifiedBy>
  <cp:revision>3</cp:revision>
  <dcterms:created xsi:type="dcterms:W3CDTF">2006-08-16T00:00:00Z</dcterms:created>
  <dcterms:modified xsi:type="dcterms:W3CDTF">2026-09-10T16:00:40Z</dcterms:modified>
  <dc:identifier>DAHT98jUH94</dc:identifier>
</cp:coreProperties>
</file>