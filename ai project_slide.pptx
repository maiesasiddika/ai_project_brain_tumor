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Noto Serif Bold" panose="020B0604020202020204" charset="0"/>
      <p:regular r:id="rId19"/>
    </p:embeddedFont>
    <p:embeddedFont>
      <p:font typeface="Noto Serif" panose="020B0604020202020204" charset="0"/>
      <p:regular r:id="rId20"/>
    </p:embeddedFont>
    <p:embeddedFont>
      <p:font typeface="Aptos 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Apto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750409"/>
            <a:ext cx="16315848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62"/>
              </a:lnSpc>
            </a:pPr>
            <a:r>
              <a:rPr lang="en-US" sz="5578" spc="-111" dirty="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Explainable Longitudinal Digital Twin for </a:t>
            </a:r>
            <a:r>
              <a:rPr lang="en-US" sz="5578" spc="-111" dirty="0" err="1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Glioma</a:t>
            </a:r>
            <a:r>
              <a:rPr lang="en-US" sz="5578" spc="-111" dirty="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 Progression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565284"/>
            <a:ext cx="16315868" cy="28594"/>
            <a:chOff x="0" y="0"/>
            <a:chExt cx="21754490" cy="381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4464" cy="38100"/>
            </a:xfrm>
            <a:custGeom>
              <a:avLst/>
              <a:gdLst/>
              <a:ahLst/>
              <a:cxnLst/>
              <a:rect l="l" t="t" r="r" b="b"/>
              <a:pathLst>
                <a:path w="2175446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35414" y="0"/>
                  </a:lnTo>
                  <a:cubicBezTo>
                    <a:pt x="21745955" y="0"/>
                    <a:pt x="21754464" y="8509"/>
                    <a:pt x="21754464" y="19050"/>
                  </a:cubicBezTo>
                  <a:cubicBezTo>
                    <a:pt x="21754464" y="29591"/>
                    <a:pt x="21745955" y="38100"/>
                    <a:pt x="2173541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92991" y="4328331"/>
            <a:ext cx="8033861" cy="28594"/>
            <a:chOff x="0" y="0"/>
            <a:chExt cx="10711815" cy="38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92991" y="4490542"/>
            <a:ext cx="335040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Shahla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Newas</a:t>
            </a:r>
            <a:endParaRPr lang="en-US" sz="2601" spc="-53" dirty="0">
              <a:solidFill>
                <a:srgbClr val="4C4C4C"/>
              </a:solidFill>
              <a:latin typeface="Noto Serif"/>
              <a:ea typeface="Noto Serif"/>
              <a:cs typeface="Noto Serif"/>
              <a:sym typeface="Noto Serif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991" y="4970336"/>
            <a:ext cx="8033861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0182320012101393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4988" y="4328331"/>
            <a:ext cx="8033861" cy="28594"/>
            <a:chOff x="0" y="0"/>
            <a:chExt cx="10711815" cy="381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74988" y="4490542"/>
            <a:ext cx="337421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Maiesa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Siddika</a:t>
            </a:r>
            <a:endParaRPr lang="en-US" sz="2601" spc="-53" dirty="0">
              <a:solidFill>
                <a:srgbClr val="4C4C4C"/>
              </a:solidFill>
              <a:latin typeface="Noto Serif"/>
              <a:ea typeface="Noto Serif"/>
              <a:cs typeface="Noto Serif"/>
              <a:sym typeface="Noto Serif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74988" y="4970336"/>
            <a:ext cx="8033861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0182320012101319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991" y="6271308"/>
            <a:ext cx="8033861" cy="28594"/>
            <a:chOff x="0" y="0"/>
            <a:chExt cx="10711815" cy="381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92991" y="6433527"/>
            <a:ext cx="411240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Fahmida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Iqbal </a:t>
            </a: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Yesha</a:t>
            </a:r>
            <a:endParaRPr lang="en-US" sz="2601" spc="-53" dirty="0">
              <a:solidFill>
                <a:srgbClr val="4C4C4C"/>
              </a:solidFill>
              <a:latin typeface="Noto Serif"/>
              <a:ea typeface="Noto Serif"/>
              <a:cs typeface="Noto Serif"/>
              <a:sym typeface="Noto Seri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92991" y="6913321"/>
            <a:ext cx="8033861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0182320012101329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74988" y="6271308"/>
            <a:ext cx="8033861" cy="28594"/>
            <a:chOff x="0" y="0"/>
            <a:chExt cx="10711815" cy="381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274988" y="6433528"/>
            <a:ext cx="2307412" cy="41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Tuli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Rani Das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4988" y="6913321"/>
            <a:ext cx="8033861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0182320012101337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2991" y="8214284"/>
            <a:ext cx="8033861" cy="28594"/>
            <a:chOff x="0" y="0"/>
            <a:chExt cx="10711815" cy="381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92990" y="8376503"/>
            <a:ext cx="365520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Rahma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Ferdous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Lima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991" y="8856297"/>
            <a:ext cx="8033861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0182320012101341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74988" y="8214284"/>
            <a:ext cx="8033861" cy="28594"/>
            <a:chOff x="0" y="0"/>
            <a:chExt cx="10711815" cy="381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11815" cy="38100"/>
            </a:xfrm>
            <a:custGeom>
              <a:avLst/>
              <a:gdLst/>
              <a:ahLst/>
              <a:cxnLst/>
              <a:rect l="l" t="t" r="r" b="b"/>
              <a:pathLst>
                <a:path w="10711815" h="38100">
                  <a:moveTo>
                    <a:pt x="0" y="0"/>
                  </a:moveTo>
                  <a:lnTo>
                    <a:pt x="10711815" y="0"/>
                  </a:lnTo>
                  <a:lnTo>
                    <a:pt x="1071181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274988" y="8376504"/>
            <a:ext cx="383141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01" spc="-53" dirty="0" err="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Samiya</a:t>
            </a:r>
            <a:r>
              <a:rPr lang="en-US" sz="2601" spc="-53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 Akhter Anika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74988" y="8856297"/>
            <a:ext cx="8033861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0182320012101355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895" y="9168022"/>
            <a:ext cx="17230954" cy="37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</a:pPr>
            <a:r>
              <a:rPr lang="en-US" sz="217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86018" y="423096"/>
            <a:ext cx="11253582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63"/>
              </a:lnSpc>
            </a:pPr>
            <a:r>
              <a:rPr lang="en-US" sz="4778" spc="-9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Dataset Verification &amp; Geometry Checks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44944" y="2056924"/>
            <a:ext cx="8203206" cy="6967176"/>
            <a:chOff x="0" y="0"/>
            <a:chExt cx="10937608" cy="92895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37621" cy="9289542"/>
            </a:xfrm>
            <a:custGeom>
              <a:avLst/>
              <a:gdLst/>
              <a:ahLst/>
              <a:cxnLst/>
              <a:rect l="l" t="t" r="r" b="b"/>
              <a:pathLst>
                <a:path w="10937621" h="9289542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10740263" y="0"/>
                  </a:lnTo>
                  <a:cubicBezTo>
                    <a:pt x="10849229" y="0"/>
                    <a:pt x="10937621" y="88392"/>
                    <a:pt x="10937621" y="197358"/>
                  </a:cubicBezTo>
                  <a:lnTo>
                    <a:pt x="10937621" y="9092184"/>
                  </a:lnTo>
                  <a:cubicBezTo>
                    <a:pt x="10937621" y="9201150"/>
                    <a:pt x="10849229" y="9289542"/>
                    <a:pt x="10740263" y="9289542"/>
                  </a:cubicBezTo>
                  <a:lnTo>
                    <a:pt x="197358" y="9289542"/>
                  </a:lnTo>
                  <a:cubicBezTo>
                    <a:pt x="88392" y="9289542"/>
                    <a:pt x="0" y="9201150"/>
                    <a:pt x="0" y="9092184"/>
                  </a:cubicBezTo>
                  <a:close/>
                </a:path>
              </a:pathLst>
            </a:custGeom>
            <a:solidFill>
              <a:srgbClr val="A7F3D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50474" y="2217639"/>
            <a:ext cx="320919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Dataset at a Glance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37656" y="2957055"/>
            <a:ext cx="1558053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05"/>
              </a:lnSpc>
            </a:pPr>
            <a:r>
              <a:rPr lang="en-US" sz="5929" spc="-118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298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54205" y="3742239"/>
            <a:ext cx="127920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Patients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0474" y="4195658"/>
            <a:ext cx="7792136" cy="37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17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Longitudinal cohort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48155" y="5101408"/>
            <a:ext cx="1847553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05"/>
              </a:lnSpc>
            </a:pPr>
            <a:r>
              <a:rPr lang="en-US" sz="5929" spc="-118" dirty="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1,788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9671" y="5886593"/>
            <a:ext cx="1373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MRI Files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0474" y="6340011"/>
            <a:ext cx="7792136" cy="37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17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Multi-modal scans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3540" y="7245763"/>
            <a:ext cx="406003" cy="78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5"/>
              </a:lnSpc>
            </a:pPr>
            <a:r>
              <a:rPr lang="en-US" sz="5929" spc="-118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97376" y="8030947"/>
            <a:ext cx="1898333" cy="39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Missing Files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0474" y="8484365"/>
            <a:ext cx="7792136" cy="37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17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Verified complete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1272" y="2217639"/>
            <a:ext cx="2085023" cy="394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spc="-52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Preprocessing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06499" y="2735218"/>
            <a:ext cx="536399" cy="536410"/>
            <a:chOff x="0" y="0"/>
            <a:chExt cx="629526" cy="6295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9539" cy="629539"/>
            </a:xfrm>
            <a:custGeom>
              <a:avLst/>
              <a:gdLst/>
              <a:ahLst/>
              <a:cxnLst/>
              <a:rect l="l" t="t" r="r" b="b"/>
              <a:pathLst>
                <a:path w="629539" h="62953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2064" y="0"/>
                  </a:lnTo>
                  <a:cubicBezTo>
                    <a:pt x="576961" y="0"/>
                    <a:pt x="629539" y="52578"/>
                    <a:pt x="629539" y="117475"/>
                  </a:cubicBezTo>
                  <a:lnTo>
                    <a:pt x="629539" y="512064"/>
                  </a:lnTo>
                  <a:cubicBezTo>
                    <a:pt x="629539" y="576961"/>
                    <a:pt x="576961" y="629539"/>
                    <a:pt x="512064" y="629539"/>
                  </a:cubicBezTo>
                  <a:lnTo>
                    <a:pt x="117475" y="629539"/>
                  </a:lnTo>
                  <a:cubicBezTo>
                    <a:pt x="52578" y="629539"/>
                    <a:pt x="0" y="576961"/>
                    <a:pt x="0" y="51206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488424" y="2778557"/>
            <a:ext cx="308305" cy="547848"/>
            <a:chOff x="0" y="0"/>
            <a:chExt cx="411074" cy="73046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1077" cy="730465"/>
            </a:xfrm>
            <a:custGeom>
              <a:avLst/>
              <a:gdLst/>
              <a:ahLst/>
              <a:cxnLst/>
              <a:rect l="l" t="t" r="r" b="b"/>
              <a:pathLst>
                <a:path w="411077" h="730465">
                  <a:moveTo>
                    <a:pt x="0" y="0"/>
                  </a:moveTo>
                  <a:lnTo>
                    <a:pt x="411077" y="0"/>
                  </a:lnTo>
                  <a:lnTo>
                    <a:pt x="411077" y="730465"/>
                  </a:lnTo>
                  <a:lnTo>
                    <a:pt x="0" y="7304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4" r="-110413" b="2963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411074" cy="7304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2"/>
                </a:lnSpc>
              </a:pPr>
              <a:r>
                <a:rPr lang="en-US" sz="2801" spc="-56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1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044122" y="2801055"/>
            <a:ext cx="184307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Normalize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406499" y="3538328"/>
            <a:ext cx="577055" cy="577066"/>
            <a:chOff x="0" y="0"/>
            <a:chExt cx="629526" cy="6295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9539" cy="629539"/>
            </a:xfrm>
            <a:custGeom>
              <a:avLst/>
              <a:gdLst/>
              <a:ahLst/>
              <a:cxnLst/>
              <a:rect l="l" t="t" r="r" b="b"/>
              <a:pathLst>
                <a:path w="629539" h="62953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2064" y="0"/>
                  </a:lnTo>
                  <a:cubicBezTo>
                    <a:pt x="576961" y="0"/>
                    <a:pt x="629539" y="52578"/>
                    <a:pt x="629539" y="117475"/>
                  </a:cubicBezTo>
                  <a:lnTo>
                    <a:pt x="629539" y="512064"/>
                  </a:lnTo>
                  <a:cubicBezTo>
                    <a:pt x="629539" y="576961"/>
                    <a:pt x="576961" y="629539"/>
                    <a:pt x="512064" y="629539"/>
                  </a:cubicBezTo>
                  <a:lnTo>
                    <a:pt x="117475" y="629539"/>
                  </a:lnTo>
                  <a:cubicBezTo>
                    <a:pt x="52578" y="629539"/>
                    <a:pt x="0" y="576961"/>
                    <a:pt x="0" y="51206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488424" y="3581667"/>
            <a:ext cx="308305" cy="533728"/>
            <a:chOff x="0" y="0"/>
            <a:chExt cx="411074" cy="7116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1077" cy="711638"/>
            </a:xfrm>
            <a:custGeom>
              <a:avLst/>
              <a:gdLst/>
              <a:ahLst/>
              <a:cxnLst/>
              <a:rect l="l" t="t" r="r" b="b"/>
              <a:pathLst>
                <a:path w="411077" h="711638">
                  <a:moveTo>
                    <a:pt x="0" y="0"/>
                  </a:moveTo>
                  <a:lnTo>
                    <a:pt x="411077" y="0"/>
                  </a:lnTo>
                  <a:lnTo>
                    <a:pt x="411077" y="711638"/>
                  </a:lnTo>
                  <a:lnTo>
                    <a:pt x="0" y="7116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4" r="-110413" b="2777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411074" cy="721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1" spc="-54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2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044122" y="3604165"/>
            <a:ext cx="176687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Crop &amp; Pad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406499" y="4341438"/>
            <a:ext cx="577055" cy="577066"/>
            <a:chOff x="0" y="0"/>
            <a:chExt cx="629526" cy="6295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29539" cy="629539"/>
            </a:xfrm>
            <a:custGeom>
              <a:avLst/>
              <a:gdLst/>
              <a:ahLst/>
              <a:cxnLst/>
              <a:rect l="l" t="t" r="r" b="b"/>
              <a:pathLst>
                <a:path w="629539" h="62953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512064" y="0"/>
                  </a:lnTo>
                  <a:cubicBezTo>
                    <a:pt x="576961" y="0"/>
                    <a:pt x="629539" y="52578"/>
                    <a:pt x="629539" y="117475"/>
                  </a:cubicBezTo>
                  <a:lnTo>
                    <a:pt x="629539" y="512064"/>
                  </a:lnTo>
                  <a:cubicBezTo>
                    <a:pt x="629539" y="576961"/>
                    <a:pt x="576961" y="629539"/>
                    <a:pt x="512064" y="629539"/>
                  </a:cubicBezTo>
                  <a:lnTo>
                    <a:pt x="117475" y="629539"/>
                  </a:lnTo>
                  <a:cubicBezTo>
                    <a:pt x="52578" y="629539"/>
                    <a:pt x="0" y="576961"/>
                    <a:pt x="0" y="512064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9488424" y="4384777"/>
            <a:ext cx="308305" cy="533728"/>
            <a:chOff x="0" y="0"/>
            <a:chExt cx="411074" cy="71163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11077" cy="711638"/>
            </a:xfrm>
            <a:custGeom>
              <a:avLst/>
              <a:gdLst/>
              <a:ahLst/>
              <a:cxnLst/>
              <a:rect l="l" t="t" r="r" b="b"/>
              <a:pathLst>
                <a:path w="411077" h="711638">
                  <a:moveTo>
                    <a:pt x="0" y="0"/>
                  </a:moveTo>
                  <a:lnTo>
                    <a:pt x="411077" y="0"/>
                  </a:lnTo>
                  <a:lnTo>
                    <a:pt x="411077" y="711638"/>
                  </a:lnTo>
                  <a:lnTo>
                    <a:pt x="0" y="7116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414" r="-110413" b="27778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411074" cy="721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1" spc="-54">
                  <a:solidFill>
                    <a:srgbClr val="000000"/>
                  </a:solidFill>
                  <a:latin typeface="Noto Serif"/>
                  <a:ea typeface="Noto Serif"/>
                  <a:cs typeface="Noto Serif"/>
                  <a:sym typeface="Noto Serif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44122" y="4407275"/>
            <a:ext cx="290987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spc="-52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Resize to 224 × 224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895" y="9168022"/>
            <a:ext cx="17230954" cy="37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</a:pPr>
            <a:r>
              <a:rPr lang="en-US" sz="217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0" y="611402"/>
            <a:ext cx="1020840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7"/>
              </a:lnSpc>
            </a:pPr>
            <a:r>
              <a:rPr lang="en-US" sz="5278" spc="-10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Input Structure &amp; Data Partition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0" y="2634386"/>
            <a:ext cx="380760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Tensor &amp; Features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991" y="3311185"/>
            <a:ext cx="8701116" cy="1586855"/>
          </a:xfrm>
          <a:custGeom>
            <a:avLst/>
            <a:gdLst/>
            <a:ahLst/>
            <a:cxnLst/>
            <a:rect l="l" t="t" r="r" b="b"/>
            <a:pathLst>
              <a:path w="8701116" h="1586855">
                <a:moveTo>
                  <a:pt x="0" y="0"/>
                </a:moveTo>
                <a:lnTo>
                  <a:pt x="8701116" y="0"/>
                </a:lnTo>
                <a:lnTo>
                  <a:pt x="8701116" y="1586856"/>
                </a:lnTo>
                <a:lnTo>
                  <a:pt x="0" y="158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84106" y="3578400"/>
            <a:ext cx="270938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MRI Input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4106" y="4138346"/>
            <a:ext cx="8033271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351" b="1" dirty="0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48 slices</a:t>
            </a:r>
            <a:r>
              <a:rPr lang="en-US" sz="2351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, </a:t>
            </a:r>
            <a:r>
              <a:rPr lang="en-US" sz="2351" b="1" dirty="0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 channels</a:t>
            </a:r>
            <a:r>
              <a:rPr lang="en-US" sz="2351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(FLAIR + T1CE)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92991" y="5146177"/>
            <a:ext cx="8701116" cy="1586855"/>
          </a:xfrm>
          <a:custGeom>
            <a:avLst/>
            <a:gdLst/>
            <a:ahLst/>
            <a:cxnLst/>
            <a:rect l="l" t="t" r="r" b="b"/>
            <a:pathLst>
              <a:path w="8701116" h="1586855">
                <a:moveTo>
                  <a:pt x="0" y="0"/>
                </a:moveTo>
                <a:lnTo>
                  <a:pt x="8701116" y="0"/>
                </a:lnTo>
                <a:lnTo>
                  <a:pt x="8701116" y="1586855"/>
                </a:lnTo>
                <a:lnTo>
                  <a:pt x="0" y="1586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84105" y="5413391"/>
            <a:ext cx="3416493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Clinical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4106" y="5973337"/>
            <a:ext cx="8033271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Age</a:t>
            </a: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, </a:t>
            </a: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Sex</a:t>
            </a: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, </a:t>
            </a: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Diagnosis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991" y="6981177"/>
            <a:ext cx="8701116" cy="1586855"/>
          </a:xfrm>
          <a:custGeom>
            <a:avLst/>
            <a:gdLst/>
            <a:ahLst/>
            <a:cxnLst/>
            <a:rect l="l" t="t" r="r" b="b"/>
            <a:pathLst>
              <a:path w="8701116" h="1586855">
                <a:moveTo>
                  <a:pt x="0" y="0"/>
                </a:moveTo>
                <a:lnTo>
                  <a:pt x="8701116" y="0"/>
                </a:lnTo>
                <a:lnTo>
                  <a:pt x="8701116" y="1586856"/>
                </a:lnTo>
                <a:lnTo>
                  <a:pt x="0" y="158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84106" y="7248393"/>
            <a:ext cx="4254694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Temporal Pairing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4106" y="7808338"/>
            <a:ext cx="8033271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Time1 / Time2</a:t>
            </a: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matched pairs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130504" y="2395776"/>
            <a:ext cx="7366464" cy="6451530"/>
            <a:chOff x="0" y="0"/>
            <a:chExt cx="9821951" cy="8602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21926" cy="8602091"/>
            </a:xfrm>
            <a:custGeom>
              <a:avLst/>
              <a:gdLst/>
              <a:ahLst/>
              <a:cxnLst/>
              <a:rect l="l" t="t" r="r" b="b"/>
              <a:pathLst>
                <a:path w="9821926" h="8602091">
                  <a:moveTo>
                    <a:pt x="0" y="238379"/>
                  </a:moveTo>
                  <a:cubicBezTo>
                    <a:pt x="0" y="106680"/>
                    <a:pt x="106680" y="0"/>
                    <a:pt x="238379" y="0"/>
                  </a:cubicBezTo>
                  <a:lnTo>
                    <a:pt x="9583547" y="0"/>
                  </a:lnTo>
                  <a:cubicBezTo>
                    <a:pt x="9715246" y="0"/>
                    <a:pt x="9821926" y="106680"/>
                    <a:pt x="9821926" y="238379"/>
                  </a:cubicBezTo>
                  <a:lnTo>
                    <a:pt x="9821926" y="8363712"/>
                  </a:lnTo>
                  <a:cubicBezTo>
                    <a:pt x="9821926" y="8495411"/>
                    <a:pt x="9715246" y="8602091"/>
                    <a:pt x="9583547" y="8602091"/>
                  </a:cubicBezTo>
                  <a:lnTo>
                    <a:pt x="238379" y="8602091"/>
                  </a:lnTo>
                  <a:cubicBezTo>
                    <a:pt x="106680" y="8602091"/>
                    <a:pt x="0" y="8495284"/>
                    <a:pt x="0" y="8363712"/>
                  </a:cubicBezTo>
                  <a:close/>
                </a:path>
              </a:pathLst>
            </a:custGeom>
            <a:solidFill>
              <a:srgbClr val="A7F3D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0378640" y="2634386"/>
            <a:ext cx="272776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Dataset Split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373868" y="3306423"/>
            <a:ext cx="3320482" cy="1558261"/>
            <a:chOff x="0" y="0"/>
            <a:chExt cx="4427309" cy="20776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27220" cy="2077593"/>
            </a:xfrm>
            <a:custGeom>
              <a:avLst/>
              <a:gdLst/>
              <a:ahLst/>
              <a:cxnLst/>
              <a:rect l="l" t="t" r="r" b="b"/>
              <a:pathLst>
                <a:path w="4427220" h="2077593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lnTo>
                    <a:pt x="4287393" y="0"/>
                  </a:lnTo>
                  <a:cubicBezTo>
                    <a:pt x="4364609" y="0"/>
                    <a:pt x="4427220" y="62611"/>
                    <a:pt x="4427220" y="139827"/>
                  </a:cubicBezTo>
                  <a:lnTo>
                    <a:pt x="4427220" y="1937766"/>
                  </a:lnTo>
                  <a:cubicBezTo>
                    <a:pt x="4427220" y="2014982"/>
                    <a:pt x="4364609" y="2077593"/>
                    <a:pt x="4287393" y="2077593"/>
                  </a:cubicBezTo>
                  <a:lnTo>
                    <a:pt x="139827" y="2077593"/>
                  </a:lnTo>
                  <a:cubicBezTo>
                    <a:pt x="62611" y="2077720"/>
                    <a:pt x="0" y="2015109"/>
                    <a:pt x="0" y="1937766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636310" y="3559331"/>
            <a:ext cx="155569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Train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36310" y="4119277"/>
            <a:ext cx="2795616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208</a:t>
            </a: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patients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932960" y="3306423"/>
            <a:ext cx="3320634" cy="1558261"/>
            <a:chOff x="0" y="0"/>
            <a:chExt cx="4427512" cy="20776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27474" cy="2077593"/>
            </a:xfrm>
            <a:custGeom>
              <a:avLst/>
              <a:gdLst/>
              <a:ahLst/>
              <a:cxnLst/>
              <a:rect l="l" t="t" r="r" b="b"/>
              <a:pathLst>
                <a:path w="4427474" h="2077593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lnTo>
                    <a:pt x="4287647" y="0"/>
                  </a:lnTo>
                  <a:cubicBezTo>
                    <a:pt x="4364863" y="0"/>
                    <a:pt x="4427474" y="62611"/>
                    <a:pt x="4427474" y="139827"/>
                  </a:cubicBezTo>
                  <a:lnTo>
                    <a:pt x="4427474" y="1937766"/>
                  </a:lnTo>
                  <a:cubicBezTo>
                    <a:pt x="4427474" y="2014982"/>
                    <a:pt x="4364863" y="2077593"/>
                    <a:pt x="4287647" y="2077593"/>
                  </a:cubicBezTo>
                  <a:lnTo>
                    <a:pt x="139827" y="2077593"/>
                  </a:lnTo>
                  <a:cubicBezTo>
                    <a:pt x="62611" y="2077720"/>
                    <a:pt x="0" y="2015109"/>
                    <a:pt x="0" y="1937766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4195393" y="3559331"/>
            <a:ext cx="203520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Validation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95393" y="4119277"/>
            <a:ext cx="2795768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45</a:t>
            </a: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patients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373868" y="5103285"/>
            <a:ext cx="6879727" cy="1558261"/>
            <a:chOff x="0" y="0"/>
            <a:chExt cx="9172969" cy="207768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72956" cy="2077593"/>
            </a:xfrm>
            <a:custGeom>
              <a:avLst/>
              <a:gdLst/>
              <a:ahLst/>
              <a:cxnLst/>
              <a:rect l="l" t="t" r="r" b="b"/>
              <a:pathLst>
                <a:path w="9172956" h="2077593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lnTo>
                    <a:pt x="9033129" y="0"/>
                  </a:lnTo>
                  <a:cubicBezTo>
                    <a:pt x="9110345" y="0"/>
                    <a:pt x="9172956" y="62611"/>
                    <a:pt x="9172956" y="139827"/>
                  </a:cubicBezTo>
                  <a:lnTo>
                    <a:pt x="9172956" y="1937766"/>
                  </a:lnTo>
                  <a:cubicBezTo>
                    <a:pt x="9172956" y="2014982"/>
                    <a:pt x="9110345" y="2077593"/>
                    <a:pt x="9033129" y="2077593"/>
                  </a:cubicBezTo>
                  <a:lnTo>
                    <a:pt x="139827" y="2077593"/>
                  </a:lnTo>
                  <a:cubicBezTo>
                    <a:pt x="62611" y="2077720"/>
                    <a:pt x="0" y="2015109"/>
                    <a:pt x="0" y="1937766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636310" y="5356203"/>
            <a:ext cx="117469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01" spc="-57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36310" y="5916139"/>
            <a:ext cx="6354861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45</a:t>
            </a: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patients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895" y="9040844"/>
            <a:ext cx="17230954" cy="4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3"/>
              </a:lnSpc>
            </a:pPr>
            <a:r>
              <a:rPr lang="en-US" sz="23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8219" y="1291851"/>
            <a:ext cx="8526856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37"/>
              </a:lnSpc>
            </a:pPr>
            <a:r>
              <a:rPr lang="en-US" sz="5478" spc="-109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Baseline Models &amp;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3287278"/>
            <a:ext cx="17230954" cy="4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Validation set.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8219" y="4054269"/>
            <a:ext cx="16325393" cy="2005241"/>
            <a:chOff x="0" y="0"/>
            <a:chExt cx="21767190" cy="26736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67164" cy="2673604"/>
            </a:xfrm>
            <a:custGeom>
              <a:avLst/>
              <a:gdLst/>
              <a:ahLst/>
              <a:cxnLst/>
              <a:rect l="l" t="t" r="r" b="b"/>
              <a:pathLst>
                <a:path w="21767164" h="2673604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21627464" y="0"/>
                  </a:lnTo>
                  <a:cubicBezTo>
                    <a:pt x="21704680" y="0"/>
                    <a:pt x="21767164" y="62484"/>
                    <a:pt x="21767164" y="139700"/>
                  </a:cubicBezTo>
                  <a:lnTo>
                    <a:pt x="21767164" y="2533904"/>
                  </a:lnTo>
                  <a:cubicBezTo>
                    <a:pt x="21767164" y="2611120"/>
                    <a:pt x="21704680" y="2673604"/>
                    <a:pt x="21627464" y="2673604"/>
                  </a:cubicBezTo>
                  <a:lnTo>
                    <a:pt x="139700" y="2673604"/>
                  </a:lnTo>
                  <a:cubicBezTo>
                    <a:pt x="62484" y="2673604"/>
                    <a:pt x="0" y="2611120"/>
                    <a:pt x="0" y="2533904"/>
                  </a:cubicBezTo>
                  <a:close/>
                </a:path>
              </a:pathLst>
            </a:custGeom>
            <a:solidFill>
              <a:srgbClr val="F2EDE5"/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02525" y="4068566"/>
            <a:ext cx="5432165" cy="1976638"/>
            <a:chOff x="0" y="0"/>
            <a:chExt cx="7242886" cy="26355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42937" cy="2635504"/>
            </a:xfrm>
            <a:custGeom>
              <a:avLst/>
              <a:gdLst/>
              <a:ahLst/>
              <a:cxnLst/>
              <a:rect l="l" t="t" r="r" b="b"/>
              <a:pathLst>
                <a:path w="7242937" h="2635504">
                  <a:moveTo>
                    <a:pt x="115824" y="0"/>
                  </a:moveTo>
                  <a:lnTo>
                    <a:pt x="7242937" y="0"/>
                  </a:lnTo>
                  <a:lnTo>
                    <a:pt x="7242937" y="2635504"/>
                  </a:lnTo>
                  <a:lnTo>
                    <a:pt x="115824" y="2635504"/>
                  </a:lnTo>
                  <a:cubicBezTo>
                    <a:pt x="51816" y="2635504"/>
                    <a:pt x="0" y="2583688"/>
                    <a:pt x="0" y="2519680"/>
                  </a:cubicBezTo>
                  <a:lnTo>
                    <a:pt x="0" y="115824"/>
                  </a:lnTo>
                  <a:cubicBezTo>
                    <a:pt x="0" y="51816"/>
                    <a:pt x="51816" y="0"/>
                    <a:pt x="115824" y="0"/>
                  </a:cubicBezTo>
                  <a:close/>
                </a:path>
              </a:pathLst>
            </a:custGeom>
            <a:solidFill>
              <a:srgbClr val="F2EDE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50652" y="4307186"/>
            <a:ext cx="2240875" cy="45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1" spc="-6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Clinical-Only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0652" y="4758404"/>
            <a:ext cx="4935893" cy="99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44.44%</a:t>
            </a: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Accuracy</a:t>
            </a:r>
          </a:p>
          <a:p>
            <a:pPr algn="l">
              <a:lnSpc>
                <a:spcPts val="4072"/>
              </a:lnSpc>
            </a:pP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F1: </a:t>
            </a: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0.4009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34690" y="4068566"/>
            <a:ext cx="5432317" cy="1976638"/>
            <a:chOff x="0" y="0"/>
            <a:chExt cx="7243089" cy="26355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43064" cy="2635504"/>
            </a:xfrm>
            <a:custGeom>
              <a:avLst/>
              <a:gdLst/>
              <a:ahLst/>
              <a:cxnLst/>
              <a:rect l="l" t="t" r="r" b="b"/>
              <a:pathLst>
                <a:path w="7243064" h="2635504">
                  <a:moveTo>
                    <a:pt x="0" y="0"/>
                  </a:moveTo>
                  <a:lnTo>
                    <a:pt x="7243064" y="0"/>
                  </a:lnTo>
                  <a:lnTo>
                    <a:pt x="7243064" y="2635504"/>
                  </a:lnTo>
                  <a:lnTo>
                    <a:pt x="0" y="2635504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34690" y="4068566"/>
            <a:ext cx="28594" cy="1976638"/>
            <a:chOff x="0" y="0"/>
            <a:chExt cx="38125" cy="26355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" cy="2635504"/>
            </a:xfrm>
            <a:custGeom>
              <a:avLst/>
              <a:gdLst/>
              <a:ahLst/>
              <a:cxnLst/>
              <a:rect l="l" t="t" r="r" b="b"/>
              <a:pathLst>
                <a:path w="38100" h="263550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616454"/>
                  </a:lnTo>
                  <a:cubicBezTo>
                    <a:pt x="38100" y="2626995"/>
                    <a:pt x="29591" y="2635504"/>
                    <a:pt x="19050" y="2635504"/>
                  </a:cubicBezTo>
                  <a:cubicBezTo>
                    <a:pt x="8509" y="2635504"/>
                    <a:pt x="0" y="2626995"/>
                    <a:pt x="0" y="2616454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682826" y="4307186"/>
            <a:ext cx="1977152" cy="45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1" spc="-6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Time1 CNN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82826" y="4758404"/>
            <a:ext cx="4936046" cy="99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53.33%</a:t>
            </a: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Accuracy</a:t>
            </a:r>
          </a:p>
          <a:p>
            <a:pPr algn="l">
              <a:lnSpc>
                <a:spcPts val="4072"/>
              </a:lnSpc>
            </a:pP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F1: </a:t>
            </a: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0.2676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867007" y="4068566"/>
            <a:ext cx="5432317" cy="1976638"/>
            <a:chOff x="0" y="0"/>
            <a:chExt cx="7243089" cy="26355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43064" cy="2635377"/>
            </a:xfrm>
            <a:custGeom>
              <a:avLst/>
              <a:gdLst/>
              <a:ahLst/>
              <a:cxnLst/>
              <a:rect l="l" t="t" r="r" b="b"/>
              <a:pathLst>
                <a:path w="7243064" h="2635377">
                  <a:moveTo>
                    <a:pt x="0" y="0"/>
                  </a:moveTo>
                  <a:lnTo>
                    <a:pt x="7127240" y="0"/>
                  </a:lnTo>
                  <a:cubicBezTo>
                    <a:pt x="7191248" y="0"/>
                    <a:pt x="7243064" y="51816"/>
                    <a:pt x="7243064" y="115824"/>
                  </a:cubicBezTo>
                  <a:lnTo>
                    <a:pt x="7243064" y="2519553"/>
                  </a:lnTo>
                  <a:cubicBezTo>
                    <a:pt x="7243064" y="2583561"/>
                    <a:pt x="7191248" y="2635377"/>
                    <a:pt x="7127240" y="2635377"/>
                  </a:cubicBezTo>
                  <a:lnTo>
                    <a:pt x="0" y="2635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DE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867007" y="4068566"/>
            <a:ext cx="28594" cy="1976638"/>
            <a:chOff x="0" y="0"/>
            <a:chExt cx="38125" cy="263551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" cy="2635504"/>
            </a:xfrm>
            <a:custGeom>
              <a:avLst/>
              <a:gdLst/>
              <a:ahLst/>
              <a:cxnLst/>
              <a:rect l="l" t="t" r="r" b="b"/>
              <a:pathLst>
                <a:path w="38100" h="263550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2616454"/>
                  </a:lnTo>
                  <a:cubicBezTo>
                    <a:pt x="38100" y="2626995"/>
                    <a:pt x="29591" y="2635504"/>
                    <a:pt x="19050" y="2635504"/>
                  </a:cubicBezTo>
                  <a:cubicBezTo>
                    <a:pt x="8509" y="2635504"/>
                    <a:pt x="0" y="2626995"/>
                    <a:pt x="0" y="2616454"/>
                  </a:cubicBezTo>
                  <a:close/>
                </a:path>
              </a:pathLst>
            </a:custGeom>
            <a:solidFill>
              <a:srgbClr val="CCC4B8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115143" y="4307186"/>
            <a:ext cx="1977152" cy="45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1" spc="-6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Time2 CNN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15143" y="4758404"/>
            <a:ext cx="4936046" cy="99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53.33%</a:t>
            </a: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Accuracy</a:t>
            </a:r>
          </a:p>
          <a:p>
            <a:pPr algn="l">
              <a:lnSpc>
                <a:spcPts val="4072"/>
              </a:lnSpc>
            </a:pP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F1: </a:t>
            </a: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0.3251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92991" y="6613284"/>
            <a:ext cx="7855134" cy="967988"/>
            <a:chOff x="0" y="0"/>
            <a:chExt cx="10473512" cy="12906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73563" cy="1290701"/>
            </a:xfrm>
            <a:custGeom>
              <a:avLst/>
              <a:gdLst/>
              <a:ahLst/>
              <a:cxnLst/>
              <a:rect l="l" t="t" r="r" b="b"/>
              <a:pathLst>
                <a:path w="10473563" h="1290701">
                  <a:moveTo>
                    <a:pt x="0" y="139065"/>
                  </a:moveTo>
                  <a:cubicBezTo>
                    <a:pt x="0" y="62230"/>
                    <a:pt x="62230" y="0"/>
                    <a:pt x="139065" y="0"/>
                  </a:cubicBezTo>
                  <a:lnTo>
                    <a:pt x="10334498" y="0"/>
                  </a:lnTo>
                  <a:cubicBezTo>
                    <a:pt x="10411333" y="0"/>
                    <a:pt x="10473563" y="62230"/>
                    <a:pt x="10473563" y="139065"/>
                  </a:cubicBezTo>
                  <a:lnTo>
                    <a:pt x="10473563" y="1151636"/>
                  </a:lnTo>
                  <a:cubicBezTo>
                    <a:pt x="10473563" y="1228471"/>
                    <a:pt x="10411333" y="1290701"/>
                    <a:pt x="10334498" y="1290701"/>
                  </a:cubicBezTo>
                  <a:lnTo>
                    <a:pt x="139065" y="1290701"/>
                  </a:lnTo>
                  <a:cubicBezTo>
                    <a:pt x="62230" y="1290701"/>
                    <a:pt x="0" y="1228344"/>
                    <a:pt x="0" y="1151636"/>
                  </a:cubicBezTo>
                  <a:close/>
                </a:path>
              </a:pathLst>
            </a:custGeom>
            <a:solidFill>
              <a:srgbClr val="E8E6E3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41127" y="6992198"/>
            <a:ext cx="310239" cy="248145"/>
            <a:chOff x="0" y="0"/>
            <a:chExt cx="413652" cy="330860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413639" cy="330835"/>
            </a:xfrm>
            <a:custGeom>
              <a:avLst/>
              <a:gdLst/>
              <a:ahLst/>
              <a:cxnLst/>
              <a:rect l="l" t="t" r="r" b="b"/>
              <a:pathLst>
                <a:path w="413639" h="330835">
                  <a:moveTo>
                    <a:pt x="0" y="0"/>
                  </a:moveTo>
                  <a:lnTo>
                    <a:pt x="413639" y="0"/>
                  </a:lnTo>
                  <a:lnTo>
                    <a:pt x="413639" y="330835"/>
                  </a:lnTo>
                  <a:lnTo>
                    <a:pt x="0" y="33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47" r="-3" b="-1151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799501" y="6803412"/>
            <a:ext cx="7715574" cy="4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Accuracy is similar; F1 separates the models.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3249" y="6572631"/>
            <a:ext cx="1785580" cy="45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1" spc="-6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Takeaway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63249" y="7123043"/>
            <a:ext cx="8770229" cy="4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2"/>
              </a:lnSpc>
            </a:pPr>
            <a:r>
              <a:rPr lang="en-US" sz="25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Single-timepoint models are not reliable enough.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2648" y="8975922"/>
            <a:ext cx="17230954" cy="48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72"/>
              </a:lnSpc>
            </a:pPr>
            <a:r>
              <a:rPr lang="en-US" sz="25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890745"/>
            <a:ext cx="15996037" cy="4367555"/>
            <a:chOff x="0" y="0"/>
            <a:chExt cx="21328050" cy="58234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7999" cy="5823458"/>
            </a:xfrm>
            <a:custGeom>
              <a:avLst/>
              <a:gdLst/>
              <a:ahLst/>
              <a:cxnLst/>
              <a:rect l="l" t="t" r="r" b="b"/>
              <a:pathLst>
                <a:path w="21327999" h="5823458">
                  <a:moveTo>
                    <a:pt x="0" y="0"/>
                  </a:moveTo>
                  <a:lnTo>
                    <a:pt x="21327999" y="0"/>
                  </a:lnTo>
                  <a:lnTo>
                    <a:pt x="21327999" y="5823458"/>
                  </a:lnTo>
                  <a:lnTo>
                    <a:pt x="0" y="5823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054648" y="304362"/>
            <a:ext cx="12178694" cy="4316911"/>
            <a:chOff x="0" y="0"/>
            <a:chExt cx="16238258" cy="57558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38220" cy="5755894"/>
            </a:xfrm>
            <a:custGeom>
              <a:avLst/>
              <a:gdLst/>
              <a:ahLst/>
              <a:cxnLst/>
              <a:rect l="l" t="t" r="r" b="b"/>
              <a:pathLst>
                <a:path w="16238220" h="5755894">
                  <a:moveTo>
                    <a:pt x="0" y="0"/>
                  </a:moveTo>
                  <a:lnTo>
                    <a:pt x="16238220" y="0"/>
                  </a:lnTo>
                  <a:lnTo>
                    <a:pt x="16238220" y="5755894"/>
                  </a:lnTo>
                  <a:lnTo>
                    <a:pt x="0" y="575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7084457" y="9556537"/>
            <a:ext cx="349687" cy="3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576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966133"/>
            <a:ext cx="8356878" cy="78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5003" spc="-10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Shared-Weight Siamese CNN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441800"/>
            <a:ext cx="296940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Architecture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991" y="3046209"/>
            <a:ext cx="457695" cy="448651"/>
            <a:chOff x="0" y="0"/>
            <a:chExt cx="610260" cy="5982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261" cy="598207"/>
            </a:xfrm>
            <a:custGeom>
              <a:avLst/>
              <a:gdLst/>
              <a:ahLst/>
              <a:cxnLst/>
              <a:rect l="l" t="t" r="r" b="b"/>
              <a:pathLst>
                <a:path w="610261" h="598207">
                  <a:moveTo>
                    <a:pt x="0" y="0"/>
                  </a:moveTo>
                  <a:lnTo>
                    <a:pt x="610261" y="0"/>
                  </a:lnTo>
                  <a:lnTo>
                    <a:pt x="610261" y="598207"/>
                  </a:lnTo>
                  <a:lnTo>
                    <a:pt x="0" y="598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4" r="-30164" b="3626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610260" cy="598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1"/>
                </a:lnSpc>
              </a:pPr>
              <a:r>
                <a:rPr lang="en-US" sz="2301" spc="-46">
                  <a:solidFill>
                    <a:srgbClr val="4C4C4C"/>
                  </a:solidFill>
                  <a:latin typeface="Noto Serif"/>
                  <a:ea typeface="Noto Serif"/>
                  <a:cs typeface="Noto Serif"/>
                  <a:sym typeface="Noto Serif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991" y="3406511"/>
            <a:ext cx="7878813" cy="28594"/>
            <a:chOff x="0" y="0"/>
            <a:chExt cx="10505084" cy="38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05059" cy="38100"/>
            </a:xfrm>
            <a:custGeom>
              <a:avLst/>
              <a:gdLst/>
              <a:ahLst/>
              <a:cxnLst/>
              <a:rect l="l" t="t" r="r" b="b"/>
              <a:pathLst>
                <a:path w="10505059" h="38100">
                  <a:moveTo>
                    <a:pt x="0" y="0"/>
                  </a:moveTo>
                  <a:lnTo>
                    <a:pt x="10505059" y="0"/>
                  </a:lnTo>
                  <a:lnTo>
                    <a:pt x="105050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92991" y="3568570"/>
            <a:ext cx="373140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Shared Encoders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991" y="4070414"/>
            <a:ext cx="8149475" cy="905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301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Time1 and Time2 MRI volumes pass through identical CNN branches with shared weights.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991" y="5233016"/>
            <a:ext cx="457695" cy="448651"/>
            <a:chOff x="0" y="0"/>
            <a:chExt cx="610260" cy="5982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0261" cy="598207"/>
            </a:xfrm>
            <a:custGeom>
              <a:avLst/>
              <a:gdLst/>
              <a:ahLst/>
              <a:cxnLst/>
              <a:rect l="l" t="t" r="r" b="b"/>
              <a:pathLst>
                <a:path w="610261" h="598207">
                  <a:moveTo>
                    <a:pt x="0" y="0"/>
                  </a:moveTo>
                  <a:lnTo>
                    <a:pt x="610261" y="0"/>
                  </a:lnTo>
                  <a:lnTo>
                    <a:pt x="610261" y="598207"/>
                  </a:lnTo>
                  <a:lnTo>
                    <a:pt x="0" y="598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4" r="-30164" b="362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10260" cy="598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1"/>
                </a:lnSpc>
              </a:pPr>
              <a:r>
                <a:rPr lang="en-US" sz="2301" spc="-46">
                  <a:solidFill>
                    <a:srgbClr val="4C4C4C"/>
                  </a:solidFill>
                  <a:latin typeface="Noto Serif"/>
                  <a:ea typeface="Noto Serif"/>
                  <a:cs typeface="Noto Serif"/>
                  <a:sym typeface="Noto Serif"/>
                </a:rPr>
                <a:t>02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991" y="5593309"/>
            <a:ext cx="7878813" cy="28594"/>
            <a:chOff x="0" y="0"/>
            <a:chExt cx="10505084" cy="381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05059" cy="38100"/>
            </a:xfrm>
            <a:custGeom>
              <a:avLst/>
              <a:gdLst/>
              <a:ahLst/>
              <a:cxnLst/>
              <a:rect l="l" t="t" r="r" b="b"/>
              <a:pathLst>
                <a:path w="10505059" h="38100">
                  <a:moveTo>
                    <a:pt x="0" y="0"/>
                  </a:moveTo>
                  <a:lnTo>
                    <a:pt x="10505059" y="0"/>
                  </a:lnTo>
                  <a:lnTo>
                    <a:pt x="105050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92991" y="5755376"/>
            <a:ext cx="335040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Temporal Delta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991" y="6247695"/>
            <a:ext cx="7878813" cy="479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60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Features are differenced to form </a:t>
            </a:r>
            <a:r>
              <a:rPr lang="en-US" sz="260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ΔF = F₂ − F₁</a:t>
            </a:r>
            <a:r>
              <a:rPr lang="en-US" sz="260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2991" y="7067864"/>
            <a:ext cx="457695" cy="448651"/>
            <a:chOff x="0" y="0"/>
            <a:chExt cx="610260" cy="59820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0261" cy="598207"/>
            </a:xfrm>
            <a:custGeom>
              <a:avLst/>
              <a:gdLst/>
              <a:ahLst/>
              <a:cxnLst/>
              <a:rect l="l" t="t" r="r" b="b"/>
              <a:pathLst>
                <a:path w="610261" h="598207">
                  <a:moveTo>
                    <a:pt x="0" y="0"/>
                  </a:moveTo>
                  <a:lnTo>
                    <a:pt x="610261" y="0"/>
                  </a:lnTo>
                  <a:lnTo>
                    <a:pt x="610261" y="598207"/>
                  </a:lnTo>
                  <a:lnTo>
                    <a:pt x="0" y="598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64" r="-30164" b="3626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610260" cy="598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1"/>
                </a:lnSpc>
              </a:pPr>
              <a:r>
                <a:rPr lang="en-US" sz="2301" spc="-46">
                  <a:solidFill>
                    <a:srgbClr val="4C4C4C"/>
                  </a:solidFill>
                  <a:latin typeface="Noto Serif"/>
                  <a:ea typeface="Noto Serif"/>
                  <a:cs typeface="Noto Serif"/>
                  <a:sym typeface="Noto Serif"/>
                </a:rPr>
                <a:t>03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991" y="7428157"/>
            <a:ext cx="7878813" cy="28594"/>
            <a:chOff x="0" y="0"/>
            <a:chExt cx="10505084" cy="381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505059" cy="38100"/>
            </a:xfrm>
            <a:custGeom>
              <a:avLst/>
              <a:gdLst/>
              <a:ahLst/>
              <a:cxnLst/>
              <a:rect l="l" t="t" r="r" b="b"/>
              <a:pathLst>
                <a:path w="10505059" h="38100">
                  <a:moveTo>
                    <a:pt x="0" y="0"/>
                  </a:moveTo>
                  <a:lnTo>
                    <a:pt x="10505059" y="0"/>
                  </a:lnTo>
                  <a:lnTo>
                    <a:pt x="105050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92991" y="7590215"/>
            <a:ext cx="2359342" cy="4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Clinical Fusion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991" y="8092069"/>
            <a:ext cx="7878813" cy="87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30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ΔF is combined with Age, Sex, and Diagnosis for classification.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9570" y="2441800"/>
            <a:ext cx="1655921" cy="4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Validation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425273" y="3031912"/>
            <a:ext cx="3862483" cy="1463831"/>
            <a:chOff x="0" y="0"/>
            <a:chExt cx="5149977" cy="195177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49977" cy="1951736"/>
            </a:xfrm>
            <a:custGeom>
              <a:avLst/>
              <a:gdLst/>
              <a:ahLst/>
              <a:cxnLst/>
              <a:rect l="l" t="t" r="r" b="b"/>
              <a:pathLst>
                <a:path w="5149977" h="1951736">
                  <a:moveTo>
                    <a:pt x="0" y="130683"/>
                  </a:moveTo>
                  <a:cubicBezTo>
                    <a:pt x="0" y="58547"/>
                    <a:pt x="58547" y="0"/>
                    <a:pt x="130683" y="0"/>
                  </a:cubicBezTo>
                  <a:lnTo>
                    <a:pt x="5019294" y="0"/>
                  </a:lnTo>
                  <a:cubicBezTo>
                    <a:pt x="5091557" y="0"/>
                    <a:pt x="5149977" y="58547"/>
                    <a:pt x="5149977" y="130683"/>
                  </a:cubicBezTo>
                  <a:lnTo>
                    <a:pt x="5149977" y="1821053"/>
                  </a:lnTo>
                  <a:cubicBezTo>
                    <a:pt x="5149977" y="1893316"/>
                    <a:pt x="5091430" y="1951736"/>
                    <a:pt x="5019294" y="1951736"/>
                  </a:cubicBezTo>
                  <a:lnTo>
                    <a:pt x="130683" y="1951736"/>
                  </a:lnTo>
                  <a:cubicBezTo>
                    <a:pt x="58547" y="1951736"/>
                    <a:pt x="0" y="1893189"/>
                    <a:pt x="0" y="1821053"/>
                  </a:cubicBezTo>
                  <a:close/>
                </a:path>
              </a:pathLst>
            </a:custGeom>
            <a:solidFill>
              <a:srgbClr val="FDFBF7"/>
            </a:solidFill>
            <a:ln w="28597" cap="sq">
              <a:solidFill>
                <a:srgbClr val="E6DED2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9696936" y="3294059"/>
            <a:ext cx="2923580" cy="4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MRI-Only Siamese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96936" y="3795913"/>
            <a:ext cx="3319148" cy="42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30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44.44%</a:t>
            </a:r>
            <a:r>
              <a:rPr lang="en-US" sz="230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accuracy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470055" y="3031912"/>
            <a:ext cx="3862626" cy="1463831"/>
            <a:chOff x="0" y="0"/>
            <a:chExt cx="5150168" cy="195177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50104" cy="1951736"/>
            </a:xfrm>
            <a:custGeom>
              <a:avLst/>
              <a:gdLst/>
              <a:ahLst/>
              <a:cxnLst/>
              <a:rect l="l" t="t" r="r" b="b"/>
              <a:pathLst>
                <a:path w="5150104" h="1951736">
                  <a:moveTo>
                    <a:pt x="0" y="130683"/>
                  </a:moveTo>
                  <a:cubicBezTo>
                    <a:pt x="0" y="58547"/>
                    <a:pt x="58547" y="0"/>
                    <a:pt x="130683" y="0"/>
                  </a:cubicBezTo>
                  <a:lnTo>
                    <a:pt x="5019421" y="0"/>
                  </a:lnTo>
                  <a:cubicBezTo>
                    <a:pt x="5091684" y="0"/>
                    <a:pt x="5150104" y="58547"/>
                    <a:pt x="5150104" y="130683"/>
                  </a:cubicBezTo>
                  <a:lnTo>
                    <a:pt x="5150104" y="1821053"/>
                  </a:lnTo>
                  <a:cubicBezTo>
                    <a:pt x="5150104" y="1893316"/>
                    <a:pt x="5091557" y="1951736"/>
                    <a:pt x="5019421" y="1951736"/>
                  </a:cubicBezTo>
                  <a:lnTo>
                    <a:pt x="130683" y="1951736"/>
                  </a:lnTo>
                  <a:cubicBezTo>
                    <a:pt x="58547" y="1951736"/>
                    <a:pt x="0" y="1893189"/>
                    <a:pt x="0" y="1821053"/>
                  </a:cubicBezTo>
                  <a:close/>
                </a:path>
              </a:pathLst>
            </a:custGeom>
            <a:solidFill>
              <a:srgbClr val="FDFBF7"/>
            </a:solidFill>
            <a:ln w="28597" cap="sq">
              <a:solidFill>
                <a:srgbClr val="E6DED2"/>
              </a:solidFill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3741718" y="3294059"/>
            <a:ext cx="2860477" cy="42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751" spc="-55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Siamese + Clinical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741718" y="3795913"/>
            <a:ext cx="3319291" cy="42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30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42.22%</a:t>
            </a:r>
            <a:r>
              <a:rPr lang="en-US" sz="230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accuracy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439570" y="4718714"/>
            <a:ext cx="7878813" cy="846153"/>
            <a:chOff x="0" y="0"/>
            <a:chExt cx="10505084" cy="112820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505060" cy="1128141"/>
            </a:xfrm>
            <a:custGeom>
              <a:avLst/>
              <a:gdLst/>
              <a:ahLst/>
              <a:cxnLst/>
              <a:rect l="l" t="t" r="r" b="b"/>
              <a:pathLst>
                <a:path w="10505060" h="1128141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0376916" y="0"/>
                  </a:lnTo>
                  <a:cubicBezTo>
                    <a:pt x="10447655" y="0"/>
                    <a:pt x="10505060" y="57404"/>
                    <a:pt x="10505060" y="128143"/>
                  </a:cubicBezTo>
                  <a:lnTo>
                    <a:pt x="10505060" y="999998"/>
                  </a:lnTo>
                  <a:cubicBezTo>
                    <a:pt x="10505060" y="1070737"/>
                    <a:pt x="10447655" y="1128141"/>
                    <a:pt x="10376916" y="1128141"/>
                  </a:cubicBezTo>
                  <a:lnTo>
                    <a:pt x="128143" y="1128141"/>
                  </a:lnTo>
                  <a:cubicBezTo>
                    <a:pt x="57404" y="1128268"/>
                    <a:pt x="0" y="1070864"/>
                    <a:pt x="0" y="999998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668342" y="5044002"/>
            <a:ext cx="285969" cy="228781"/>
            <a:chOff x="0" y="0"/>
            <a:chExt cx="381292" cy="305041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81254" cy="305054"/>
            </a:xfrm>
            <a:custGeom>
              <a:avLst/>
              <a:gdLst/>
              <a:ahLst/>
              <a:cxnLst/>
              <a:rect l="l" t="t" r="r" b="b"/>
              <a:pathLst>
                <a:path w="381254" h="305054">
                  <a:moveTo>
                    <a:pt x="0" y="0"/>
                  </a:moveTo>
                  <a:lnTo>
                    <a:pt x="381254" y="0"/>
                  </a:lnTo>
                  <a:lnTo>
                    <a:pt x="381254" y="305054"/>
                  </a:lnTo>
                  <a:lnTo>
                    <a:pt x="0" y="305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4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0183082" y="4889611"/>
            <a:ext cx="7821625" cy="42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30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ΔF alone is not sufficiently discriminative.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895" y="9090146"/>
            <a:ext cx="17230954" cy="42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34"/>
              </a:lnSpc>
            </a:pPr>
            <a:r>
              <a:rPr lang="en-US" sz="230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878237"/>
            <a:ext cx="116967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8" spc="-103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Attention Slice Pooling Breakthrough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4254" y="2456393"/>
            <a:ext cx="6520329" cy="6330286"/>
            <a:chOff x="0" y="0"/>
            <a:chExt cx="8693772" cy="84403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93786" cy="8440420"/>
            </a:xfrm>
            <a:custGeom>
              <a:avLst/>
              <a:gdLst/>
              <a:ahLst/>
              <a:cxnLst/>
              <a:rect l="l" t="t" r="r" b="b"/>
              <a:pathLst>
                <a:path w="8693786" h="8440420">
                  <a:moveTo>
                    <a:pt x="0" y="238379"/>
                  </a:moveTo>
                  <a:cubicBezTo>
                    <a:pt x="0" y="106680"/>
                    <a:pt x="106680" y="0"/>
                    <a:pt x="238379" y="0"/>
                  </a:cubicBezTo>
                  <a:lnTo>
                    <a:pt x="8455406" y="0"/>
                  </a:lnTo>
                  <a:cubicBezTo>
                    <a:pt x="8587105" y="0"/>
                    <a:pt x="8693786" y="106680"/>
                    <a:pt x="8693786" y="238379"/>
                  </a:cubicBezTo>
                  <a:lnTo>
                    <a:pt x="8693786" y="8202041"/>
                  </a:lnTo>
                  <a:cubicBezTo>
                    <a:pt x="8693786" y="8333740"/>
                    <a:pt x="8587105" y="8440420"/>
                    <a:pt x="8455406" y="8440420"/>
                  </a:cubicBezTo>
                  <a:lnTo>
                    <a:pt x="238379" y="8440420"/>
                  </a:lnTo>
                  <a:cubicBezTo>
                    <a:pt x="106680" y="8440420"/>
                    <a:pt x="0" y="8333613"/>
                    <a:pt x="0" y="8202041"/>
                  </a:cubicBezTo>
                  <a:close/>
                </a:path>
              </a:pathLst>
            </a:custGeom>
            <a:solidFill>
              <a:srgbClr val="A7F3D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62399" y="2666438"/>
            <a:ext cx="5725002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6980" spc="-141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60.00%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2398" y="4004243"/>
            <a:ext cx="488120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Validation Accuracy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2399" y="4583230"/>
            <a:ext cx="6939153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F1 Score: </a:t>
            </a: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0.4006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62399" y="5397894"/>
            <a:ext cx="6024058" cy="28594"/>
            <a:chOff x="0" y="0"/>
            <a:chExt cx="8032077" cy="381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32115" cy="38100"/>
            </a:xfrm>
            <a:custGeom>
              <a:avLst/>
              <a:gdLst/>
              <a:ahLst/>
              <a:cxnLst/>
              <a:rect l="l" t="t" r="r" b="b"/>
              <a:pathLst>
                <a:path w="803211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013065" y="0"/>
                  </a:lnTo>
                  <a:cubicBezTo>
                    <a:pt x="8023606" y="0"/>
                    <a:pt x="8032115" y="8509"/>
                    <a:pt x="8032115" y="19050"/>
                  </a:cubicBezTo>
                  <a:cubicBezTo>
                    <a:pt x="8032115" y="29591"/>
                    <a:pt x="8023606" y="38100"/>
                    <a:pt x="801306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062399" y="5691530"/>
            <a:ext cx="6024058" cy="130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Best MRI model</a:t>
            </a: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in the study.</a:t>
            </a:r>
          </a:p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+6.67 pts over single-timepoint CNN baselines.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70980" y="2685488"/>
            <a:ext cx="594501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Attention-Based Slice Pooling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70981" y="3264475"/>
            <a:ext cx="9547250" cy="858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The model learns slice weights, giving more importance to diagnostically relevant slices.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7770981" y="4414418"/>
            <a:ext cx="620639" cy="620649"/>
          </a:xfrm>
          <a:custGeom>
            <a:avLst/>
            <a:gdLst/>
            <a:ahLst/>
            <a:cxnLst/>
            <a:rect l="l" t="t" r="r" b="b"/>
            <a:pathLst>
              <a:path w="620639" h="62064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0304" r="-30304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701859" y="4395368"/>
            <a:ext cx="196614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Salience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01859" y="4974355"/>
            <a:ext cx="8616372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Relevant slices get higher weight.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7770981" y="5944229"/>
            <a:ext cx="620639" cy="620649"/>
          </a:xfrm>
          <a:custGeom>
            <a:avLst/>
            <a:gdLst/>
            <a:ahLst/>
            <a:cxnLst/>
            <a:rect l="l" t="t" r="r" b="b"/>
            <a:pathLst>
              <a:path w="620639" h="62064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-21214" r="-2121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701858" y="5925179"/>
            <a:ext cx="129682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Gain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01859" y="6504165"/>
            <a:ext cx="8616372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Largest accuracy jump in the pipeline.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7770981" y="7474039"/>
            <a:ext cx="620639" cy="620649"/>
          </a:xfrm>
          <a:custGeom>
            <a:avLst/>
            <a:gdLst/>
            <a:ahLst/>
            <a:cxnLst/>
            <a:rect l="l" t="t" r="r" b="b"/>
            <a:pathLst>
              <a:path w="620639" h="62064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l="-4547" r="-4545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8701859" y="7454990"/>
            <a:ext cx="348514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Noise Reduction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1859" y="8033976"/>
            <a:ext cx="8616372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Uninformative slices are down-weighted.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506" y="-12506"/>
            <a:ext cx="18312527" cy="203311"/>
            <a:chOff x="0" y="0"/>
            <a:chExt cx="24416702" cy="271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6638" cy="271145"/>
            </a:xfrm>
            <a:custGeom>
              <a:avLst/>
              <a:gdLst/>
              <a:ahLst/>
              <a:cxnLst/>
              <a:rect l="l" t="t" r="r" b="b"/>
              <a:pathLst>
                <a:path w="24416638" h="271145">
                  <a:moveTo>
                    <a:pt x="0" y="0"/>
                  </a:moveTo>
                  <a:lnTo>
                    <a:pt x="24416638" y="0"/>
                  </a:lnTo>
                  <a:lnTo>
                    <a:pt x="24416638" y="271145"/>
                  </a:lnTo>
                  <a:lnTo>
                    <a:pt x="0" y="271145"/>
                  </a:lnTo>
                  <a:close/>
                </a:path>
              </a:pathLst>
            </a:custGeom>
            <a:solidFill>
              <a:srgbClr val="122B4C"/>
            </a:solidFill>
            <a:ln w="14288" cap="sq">
              <a:solidFill>
                <a:srgbClr val="122B4C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845820" y="566928"/>
            <a:ext cx="70866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1">
                <a:solidFill>
                  <a:srgbClr val="2D68A8"/>
                </a:solidFill>
                <a:latin typeface="Aptos Bold"/>
                <a:ea typeface="Aptos Bold"/>
                <a:cs typeface="Aptos Bold"/>
                <a:sym typeface="Aptos Bold"/>
              </a:rPr>
              <a:t>6B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05940" y="457200"/>
            <a:ext cx="712291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Ablation Study Comparison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33372" y="1252728"/>
            <a:ext cx="153162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049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Validation performance across model configurations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963741" y="1558538"/>
            <a:ext cx="14099096" cy="8115814"/>
            <a:chOff x="0" y="0"/>
            <a:chExt cx="18798794" cy="10821086"/>
          </a:xfrm>
        </p:grpSpPr>
        <p:sp>
          <p:nvSpPr>
            <p:cNvPr id="8" name="Freeform 8" descr="68cbc6d5-dd61-44ee-abb6-1719c1301860.png"/>
            <p:cNvSpPr/>
            <p:nvPr/>
          </p:nvSpPr>
          <p:spPr>
            <a:xfrm>
              <a:off x="0" y="0"/>
              <a:ext cx="18798794" cy="10821035"/>
            </a:xfrm>
            <a:custGeom>
              <a:avLst/>
              <a:gdLst/>
              <a:ahLst/>
              <a:cxnLst/>
              <a:rect l="l" t="t" r="r" b="b"/>
              <a:pathLst>
                <a:path w="18798794" h="10821035">
                  <a:moveTo>
                    <a:pt x="0" y="0"/>
                  </a:moveTo>
                  <a:lnTo>
                    <a:pt x="18798794" y="0"/>
                  </a:lnTo>
                  <a:lnTo>
                    <a:pt x="18798794" y="10821035"/>
                  </a:lnTo>
                  <a:lnTo>
                    <a:pt x="0" y="10821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314450" y="9674352"/>
            <a:ext cx="156591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Validation Accuracy and Macro-F1 across the ablation settings.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9792462"/>
            <a:ext cx="16550640" cy="17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Ablation Study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87827" y="-8039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524379"/>
            <a:ext cx="7617609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7"/>
              </a:lnSpc>
            </a:pPr>
            <a:r>
              <a:rPr lang="en-US" sz="3307" spc="-68" dirty="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Test Set Benchmark — N = 45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212824"/>
            <a:ext cx="674667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78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Held-out test set. Clinical-Only outperformed Siamese+Clinical.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622399"/>
            <a:ext cx="15104510" cy="8458630"/>
            <a:chOff x="0" y="0"/>
            <a:chExt cx="21754490" cy="1218266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1754464" cy="12182729"/>
            </a:xfrm>
            <a:custGeom>
              <a:avLst/>
              <a:gdLst/>
              <a:ahLst/>
              <a:cxnLst/>
              <a:rect l="l" t="t" r="r" b="b"/>
              <a:pathLst>
                <a:path w="21754464" h="12182729">
                  <a:moveTo>
                    <a:pt x="0" y="0"/>
                  </a:moveTo>
                  <a:lnTo>
                    <a:pt x="21754464" y="0"/>
                  </a:lnTo>
                  <a:lnTo>
                    <a:pt x="21754464" y="12182729"/>
                  </a:lnTo>
                  <a:lnTo>
                    <a:pt x="0" y="12182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" b="-1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6520" y="101165"/>
            <a:ext cx="11463023" cy="10084670"/>
            <a:chOff x="0" y="0"/>
            <a:chExt cx="15284031" cy="134462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84069" cy="13446252"/>
            </a:xfrm>
            <a:custGeom>
              <a:avLst/>
              <a:gdLst/>
              <a:ahLst/>
              <a:cxnLst/>
              <a:rect l="l" t="t" r="r" b="b"/>
              <a:pathLst>
                <a:path w="15284069" h="13446252">
                  <a:moveTo>
                    <a:pt x="0" y="0"/>
                  </a:moveTo>
                  <a:lnTo>
                    <a:pt x="15284069" y="0"/>
                  </a:lnTo>
                  <a:lnTo>
                    <a:pt x="15284069" y="13446252"/>
                  </a:lnTo>
                  <a:lnTo>
                    <a:pt x="0" y="13446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506" y="-12506"/>
            <a:ext cx="18312527" cy="203311"/>
            <a:chOff x="0" y="0"/>
            <a:chExt cx="24416702" cy="271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6638" cy="271145"/>
            </a:xfrm>
            <a:custGeom>
              <a:avLst/>
              <a:gdLst/>
              <a:ahLst/>
              <a:cxnLst/>
              <a:rect l="l" t="t" r="r" b="b"/>
              <a:pathLst>
                <a:path w="24416638" h="271145">
                  <a:moveTo>
                    <a:pt x="0" y="0"/>
                  </a:moveTo>
                  <a:lnTo>
                    <a:pt x="24416638" y="0"/>
                  </a:lnTo>
                  <a:lnTo>
                    <a:pt x="24416638" y="271145"/>
                  </a:lnTo>
                  <a:lnTo>
                    <a:pt x="0" y="271145"/>
                  </a:lnTo>
                  <a:close/>
                </a:path>
              </a:pathLst>
            </a:custGeom>
            <a:solidFill>
              <a:srgbClr val="122B4C"/>
            </a:solidFill>
            <a:ln w="14288" cap="sq">
              <a:solidFill>
                <a:srgbClr val="122B4C"/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805940" y="457200"/>
            <a:ext cx="984087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Patient 100183 Attention Visualization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33372" y="1252728"/>
            <a:ext cx="153162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MRI inputs and Grad-CAM explanations at Time 1 and Time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63516" y="1678686"/>
            <a:ext cx="8751570" cy="7579614"/>
            <a:chOff x="0" y="0"/>
            <a:chExt cx="11668760" cy="10106152"/>
          </a:xfrm>
        </p:grpSpPr>
        <p:sp>
          <p:nvSpPr>
            <p:cNvPr id="8" name="Freeform 8" descr="46226004-6865-4769-8142-84f1ea62732a.png"/>
            <p:cNvSpPr/>
            <p:nvPr/>
          </p:nvSpPr>
          <p:spPr>
            <a:xfrm>
              <a:off x="0" y="0"/>
              <a:ext cx="11668760" cy="10106152"/>
            </a:xfrm>
            <a:custGeom>
              <a:avLst/>
              <a:gdLst/>
              <a:ahLst/>
              <a:cxnLst/>
              <a:rect l="l" t="t" r="r" b="b"/>
              <a:pathLst>
                <a:path w="11668760" h="10106152">
                  <a:moveTo>
                    <a:pt x="0" y="0"/>
                  </a:moveTo>
                  <a:lnTo>
                    <a:pt x="11668760" y="0"/>
                  </a:lnTo>
                  <a:lnTo>
                    <a:pt x="11668760" y="10106152"/>
                  </a:lnTo>
                  <a:lnTo>
                    <a:pt x="0" y="10106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617" b="-1061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314450" y="9541669"/>
            <a:ext cx="1565910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True: Increased  •  Predicted: Increased  •  Probability: 0.671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9792462"/>
            <a:ext cx="16550640" cy="174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Patient-level temporal attention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572395"/>
            <a:ext cx="107823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4677" spc="-95" dirty="0" err="1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Explainability</a:t>
            </a:r>
            <a:r>
              <a:rPr lang="en-US" sz="4677" spc="-95" dirty="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: Signed Grad-CAM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274" y="1884910"/>
            <a:ext cx="7945098" cy="4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851" spc="-59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Zero-Map Collapse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274" y="2627703"/>
            <a:ext cx="7945098" cy="78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Naïve Grad-CAM on ΔF = F₂ − F₁ can cancel positive and negative gradients, producing near-zero saliency maps.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274" y="4715664"/>
            <a:ext cx="7945098" cy="43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851" spc="-59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Signed Grad-CAM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6526" y="5350679"/>
            <a:ext cx="7945098" cy="78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3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Preserves gradient sign through the subtraction layer, yielding meaningful progression vs. stability saliency.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9389" y="1206806"/>
            <a:ext cx="7945098" cy="39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551" spc="-53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Ground Truth Overlap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06611" y="3501466"/>
            <a:ext cx="1478161" cy="55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</a:pPr>
            <a:r>
              <a:rPr lang="en-US" sz="4277" spc="-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1.10%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036495" y="2324729"/>
            <a:ext cx="2618527" cy="2618594"/>
            <a:chOff x="0" y="0"/>
            <a:chExt cx="3491370" cy="3491459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3491357" cy="3491484"/>
            </a:xfrm>
            <a:custGeom>
              <a:avLst/>
              <a:gdLst/>
              <a:ahLst/>
              <a:cxnLst/>
              <a:rect l="l" t="t" r="r" b="b"/>
              <a:pathLst>
                <a:path w="3491357" h="3491484">
                  <a:moveTo>
                    <a:pt x="0" y="0"/>
                  </a:moveTo>
                  <a:lnTo>
                    <a:pt x="3491357" y="0"/>
                  </a:lnTo>
                  <a:lnTo>
                    <a:pt x="3491357" y="3491484"/>
                  </a:lnTo>
                  <a:lnTo>
                    <a:pt x="0" y="3491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373286" y="5100161"/>
            <a:ext cx="7945098" cy="39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551" spc="-53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Dice — T1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06611" y="6848256"/>
            <a:ext cx="1478161" cy="55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</a:pPr>
            <a:r>
              <a:rPr lang="en-US" sz="4277" spc="-87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1.19%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36495" y="5671509"/>
            <a:ext cx="2618527" cy="2618594"/>
            <a:chOff x="0" y="0"/>
            <a:chExt cx="3491370" cy="3491459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3491357" cy="3491484"/>
            </a:xfrm>
            <a:custGeom>
              <a:avLst/>
              <a:gdLst/>
              <a:ahLst/>
              <a:cxnLst/>
              <a:rect l="l" t="t" r="r" b="b"/>
              <a:pathLst>
                <a:path w="3491357" h="3491484">
                  <a:moveTo>
                    <a:pt x="0" y="0"/>
                  </a:moveTo>
                  <a:lnTo>
                    <a:pt x="3491357" y="0"/>
                  </a:lnTo>
                  <a:lnTo>
                    <a:pt x="3491357" y="3491484"/>
                  </a:lnTo>
                  <a:lnTo>
                    <a:pt x="0" y="3491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9373286" y="8446951"/>
            <a:ext cx="7945098" cy="39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551" spc="-53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Dice — T2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3286" y="8863214"/>
            <a:ext cx="8860184" cy="76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51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Low overlap suggests weak spatial alignment with the tumor mask.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5380" y="9643861"/>
            <a:ext cx="17230954" cy="3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506" y="-12506"/>
            <a:ext cx="18312527" cy="203311"/>
            <a:chOff x="0" y="0"/>
            <a:chExt cx="24416702" cy="271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6638" cy="271145"/>
            </a:xfrm>
            <a:custGeom>
              <a:avLst/>
              <a:gdLst/>
              <a:ahLst/>
              <a:cxnLst/>
              <a:rect l="l" t="t" r="r" b="b"/>
              <a:pathLst>
                <a:path w="24416638" h="271145">
                  <a:moveTo>
                    <a:pt x="0" y="0"/>
                  </a:moveTo>
                  <a:lnTo>
                    <a:pt x="24416638" y="0"/>
                  </a:lnTo>
                  <a:lnTo>
                    <a:pt x="24416638" y="271145"/>
                  </a:lnTo>
                  <a:lnTo>
                    <a:pt x="0" y="271145"/>
                  </a:lnTo>
                  <a:close/>
                </a:path>
              </a:pathLst>
            </a:custGeom>
            <a:solidFill>
              <a:srgbClr val="122B4C"/>
            </a:solidFill>
            <a:ln w="14288" cap="sq">
              <a:solidFill>
                <a:srgbClr val="122B4C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945672" y="387620"/>
            <a:ext cx="884491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122B4C"/>
                </a:solidFill>
                <a:latin typeface="Aptos Bold"/>
                <a:ea typeface="Aptos Bold"/>
                <a:cs typeface="Aptos Bold"/>
                <a:sym typeface="Aptos Bold"/>
              </a:rPr>
              <a:t>Signed Grad-CAM QC 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0260" y="1123855"/>
            <a:ext cx="153162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8" b="1">
                <a:solidFill>
                  <a:srgbClr val="5E6976"/>
                </a:solidFill>
                <a:latin typeface="Aptos Bold"/>
                <a:ea typeface="Aptos Bold"/>
                <a:cs typeface="Aptos Bold"/>
                <a:sym typeface="Aptos Bold"/>
              </a:rPr>
              <a:t>Standard Grad-CAM zero maps versus informative signed attributions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056907" y="1600105"/>
            <a:ext cx="10805217" cy="7197138"/>
            <a:chOff x="0" y="0"/>
            <a:chExt cx="14406956" cy="9596184"/>
          </a:xfrm>
        </p:grpSpPr>
        <p:sp>
          <p:nvSpPr>
            <p:cNvPr id="7" name="Freeform 7" descr="b4798917-a4c4-4648-bca5-ccff06102d74.png"/>
            <p:cNvSpPr/>
            <p:nvPr/>
          </p:nvSpPr>
          <p:spPr>
            <a:xfrm>
              <a:off x="0" y="0"/>
              <a:ext cx="14407007" cy="9596120"/>
            </a:xfrm>
            <a:custGeom>
              <a:avLst/>
              <a:gdLst/>
              <a:ahLst/>
              <a:cxnLst/>
              <a:rect l="l" t="t" r="r" b="b"/>
              <a:pathLst>
                <a:path w="14407007" h="9596120">
                  <a:moveTo>
                    <a:pt x="0" y="0"/>
                  </a:moveTo>
                  <a:lnTo>
                    <a:pt x="14407007" y="0"/>
                  </a:lnTo>
                  <a:lnTo>
                    <a:pt x="14407007" y="9596120"/>
                  </a:lnTo>
                  <a:lnTo>
                    <a:pt x="0" y="959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276" b="-627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257300" y="9029700"/>
            <a:ext cx="15796260" cy="29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5E6976"/>
                </a:solidFill>
                <a:latin typeface="Aptos"/>
                <a:ea typeface="Aptos"/>
                <a:cs typeface="Aptos"/>
                <a:sym typeface="Aptos"/>
              </a:rPr>
              <a:t>Signed Grad-CAM preserves informative attribution where standard Grad-CAM can collapse to zero.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0" y="1123217"/>
            <a:ext cx="12342009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5078" spc="-103" dirty="0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Temporal Attention Validation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325624"/>
            <a:ext cx="454633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901" spc="-60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Central Question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2791881"/>
            <a:ext cx="830340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526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Does attention track tumor change over time?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991" y="3488874"/>
            <a:ext cx="7045347" cy="28594"/>
            <a:chOff x="0" y="0"/>
            <a:chExt cx="9393796" cy="381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93809" cy="38100"/>
            </a:xfrm>
            <a:custGeom>
              <a:avLst/>
              <a:gdLst/>
              <a:ahLst/>
              <a:cxnLst/>
              <a:rect l="l" t="t" r="r" b="b"/>
              <a:pathLst>
                <a:path w="939380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374759" y="0"/>
                  </a:lnTo>
                  <a:cubicBezTo>
                    <a:pt x="9385300" y="0"/>
                    <a:pt x="9393809" y="8509"/>
                    <a:pt x="9393809" y="19050"/>
                  </a:cubicBezTo>
                  <a:cubicBezTo>
                    <a:pt x="9393809" y="29591"/>
                    <a:pt x="9385300" y="38100"/>
                    <a:pt x="937475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C4C4C">
                <a:alpha val="24706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92991" y="3784684"/>
            <a:ext cx="385160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901" spc="-60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Alignment Scores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82984" y="4330238"/>
            <a:ext cx="3433677" cy="1347645"/>
            <a:chOff x="0" y="0"/>
            <a:chExt cx="4578236" cy="17968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8223" cy="1796923"/>
            </a:xfrm>
            <a:custGeom>
              <a:avLst/>
              <a:gdLst/>
              <a:ahLst/>
              <a:cxnLst/>
              <a:rect l="l" t="t" r="r" b="b"/>
              <a:pathLst>
                <a:path w="4578223" h="179692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4453509" y="0"/>
                  </a:lnTo>
                  <a:cubicBezTo>
                    <a:pt x="4522343" y="0"/>
                    <a:pt x="4578223" y="55880"/>
                    <a:pt x="4578223" y="124714"/>
                  </a:cubicBezTo>
                  <a:lnTo>
                    <a:pt x="4578223" y="1672209"/>
                  </a:lnTo>
                  <a:cubicBezTo>
                    <a:pt x="4578223" y="1741043"/>
                    <a:pt x="4522343" y="1796923"/>
                    <a:pt x="4453509" y="1796923"/>
                  </a:cubicBezTo>
                  <a:lnTo>
                    <a:pt x="124714" y="1796923"/>
                  </a:lnTo>
                  <a:cubicBezTo>
                    <a:pt x="55880" y="1796923"/>
                    <a:pt x="0" y="1741043"/>
                    <a:pt x="0" y="1672209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990364" y="4437553"/>
            <a:ext cx="296509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901" spc="-60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Single-Label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1406" y="4828393"/>
            <a:ext cx="2963027" cy="46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526" b="1" dirty="0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0.0039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604519" y="4330285"/>
            <a:ext cx="3433829" cy="1347645"/>
            <a:chOff x="0" y="0"/>
            <a:chExt cx="4578439" cy="17968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8477" cy="1796923"/>
            </a:xfrm>
            <a:custGeom>
              <a:avLst/>
              <a:gdLst/>
              <a:ahLst/>
              <a:cxnLst/>
              <a:rect l="l" t="t" r="r" b="b"/>
              <a:pathLst>
                <a:path w="4578477" h="1796923">
                  <a:moveTo>
                    <a:pt x="0" y="124714"/>
                  </a:moveTo>
                  <a:cubicBezTo>
                    <a:pt x="0" y="55880"/>
                    <a:pt x="55880" y="0"/>
                    <a:pt x="124714" y="0"/>
                  </a:cubicBezTo>
                  <a:lnTo>
                    <a:pt x="4453763" y="0"/>
                  </a:lnTo>
                  <a:cubicBezTo>
                    <a:pt x="4522597" y="0"/>
                    <a:pt x="4578477" y="55880"/>
                    <a:pt x="4578477" y="124714"/>
                  </a:cubicBezTo>
                  <a:lnTo>
                    <a:pt x="4578477" y="1672209"/>
                  </a:lnTo>
                  <a:cubicBezTo>
                    <a:pt x="4578477" y="1741043"/>
                    <a:pt x="4522597" y="1796923"/>
                    <a:pt x="4453763" y="1796923"/>
                  </a:cubicBezTo>
                  <a:lnTo>
                    <a:pt x="124714" y="1796923"/>
                  </a:lnTo>
                  <a:cubicBezTo>
                    <a:pt x="55880" y="1796923"/>
                    <a:pt x="0" y="1741043"/>
                    <a:pt x="0" y="1672209"/>
                  </a:cubicBezTo>
                  <a:close/>
                </a:path>
              </a:pathLst>
            </a:custGeom>
            <a:solidFill>
              <a:srgbClr val="E6DED2">
                <a:alpha val="24706"/>
              </a:srgbClr>
            </a:solidFill>
            <a:ln w="9532" cap="sq">
              <a:solidFill>
                <a:srgbClr val="CCC4B8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4844596" y="4401149"/>
            <a:ext cx="231820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901" spc="-60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Multi-Label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44596" y="4786750"/>
            <a:ext cx="2963180" cy="46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526" b="1" dirty="0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−0.0012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87330" y="2325625"/>
            <a:ext cx="375707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901" spc="-60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Statistical Finding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8587330" y="2902182"/>
            <a:ext cx="8730910" cy="1376248"/>
          </a:xfrm>
          <a:custGeom>
            <a:avLst/>
            <a:gdLst/>
            <a:ahLst/>
            <a:cxnLst/>
            <a:rect l="l" t="t" r="r" b="b"/>
            <a:pathLst>
              <a:path w="8730910" h="1376248">
                <a:moveTo>
                  <a:pt x="0" y="0"/>
                </a:moveTo>
                <a:lnTo>
                  <a:pt x="8730911" y="0"/>
                </a:lnTo>
                <a:lnTo>
                  <a:pt x="8730911" y="1376248"/>
                </a:lnTo>
                <a:lnTo>
                  <a:pt x="0" y="137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503" b="-50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951338" y="3142288"/>
            <a:ext cx="2446377" cy="44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901" spc="-6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Not Supported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51338" y="3608546"/>
            <a:ext cx="8117272" cy="46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52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p &gt; 0.05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8587330" y="4475331"/>
            <a:ext cx="8730910" cy="1376248"/>
          </a:xfrm>
          <a:custGeom>
            <a:avLst/>
            <a:gdLst/>
            <a:ahLst/>
            <a:cxnLst/>
            <a:rect l="l" t="t" r="r" b="b"/>
            <a:pathLst>
              <a:path w="8730910" h="1376248">
                <a:moveTo>
                  <a:pt x="0" y="0"/>
                </a:moveTo>
                <a:lnTo>
                  <a:pt x="8730911" y="0"/>
                </a:lnTo>
                <a:lnTo>
                  <a:pt x="8730911" y="1376248"/>
                </a:lnTo>
                <a:lnTo>
                  <a:pt x="0" y="137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503" b="-502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889424" y="4571738"/>
            <a:ext cx="1930975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601" spc="-53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Takeaway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08357" y="5051969"/>
            <a:ext cx="819833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126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Attention helps classification, not temporal interpretability.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8587330" y="6274653"/>
            <a:ext cx="8730910" cy="1376248"/>
          </a:xfrm>
          <a:custGeom>
            <a:avLst/>
            <a:gdLst/>
            <a:ahLst/>
            <a:cxnLst/>
            <a:rect l="l" t="t" r="r" b="b"/>
            <a:pathLst>
              <a:path w="8730910" h="1376248">
                <a:moveTo>
                  <a:pt x="0" y="0"/>
                </a:moveTo>
                <a:lnTo>
                  <a:pt x="8730911" y="0"/>
                </a:lnTo>
                <a:lnTo>
                  <a:pt x="8730911" y="1376248"/>
                </a:lnTo>
                <a:lnTo>
                  <a:pt x="0" y="137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503" b="-502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8889424" y="6356404"/>
            <a:ext cx="2235775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5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Next Step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89425" y="6901910"/>
            <a:ext cx="8117272" cy="42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32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Supervise attention with segmentation masks.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528390" y="7805738"/>
            <a:ext cx="8730910" cy="1134066"/>
            <a:chOff x="0" y="0"/>
            <a:chExt cx="11641214" cy="151208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641201" cy="1512062"/>
            </a:xfrm>
            <a:custGeom>
              <a:avLst/>
              <a:gdLst/>
              <a:ahLst/>
              <a:cxnLst/>
              <a:rect l="l" t="t" r="r" b="b"/>
              <a:pathLst>
                <a:path w="11641201" h="1512062">
                  <a:moveTo>
                    <a:pt x="0" y="123825"/>
                  </a:moveTo>
                  <a:cubicBezTo>
                    <a:pt x="0" y="55499"/>
                    <a:pt x="55499" y="0"/>
                    <a:pt x="123825" y="0"/>
                  </a:cubicBezTo>
                  <a:lnTo>
                    <a:pt x="11517376" y="0"/>
                  </a:lnTo>
                  <a:cubicBezTo>
                    <a:pt x="11585702" y="0"/>
                    <a:pt x="11641201" y="55499"/>
                    <a:pt x="11641201" y="123825"/>
                  </a:cubicBezTo>
                  <a:lnTo>
                    <a:pt x="11641201" y="1388237"/>
                  </a:lnTo>
                  <a:cubicBezTo>
                    <a:pt x="11641201" y="1456563"/>
                    <a:pt x="11585702" y="1512062"/>
                    <a:pt x="11517376" y="1512062"/>
                  </a:cubicBezTo>
                  <a:lnTo>
                    <a:pt x="123825" y="1512062"/>
                  </a:lnTo>
                  <a:cubicBezTo>
                    <a:pt x="55499" y="1512062"/>
                    <a:pt x="0" y="1456563"/>
                    <a:pt x="0" y="1388237"/>
                  </a:cubicBezTo>
                  <a:close/>
                </a:path>
              </a:pathLst>
            </a:custGeom>
            <a:solidFill>
              <a:srgbClr val="E8E6E3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8808358" y="7860847"/>
            <a:ext cx="7791536" cy="938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52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Null results clarify the limits of unsupervised attention in longitudinal MRI.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895" y="9137513"/>
            <a:ext cx="17230954" cy="46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19"/>
              </a:lnSpc>
            </a:pPr>
            <a:r>
              <a:rPr lang="en-US" sz="252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3200" y="342900"/>
            <a:ext cx="12383100" cy="9563100"/>
            <a:chOff x="0" y="0"/>
            <a:chExt cx="17984813" cy="13465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984851" cy="13465811"/>
            </a:xfrm>
            <a:custGeom>
              <a:avLst/>
              <a:gdLst/>
              <a:ahLst/>
              <a:cxnLst/>
              <a:rect l="l" t="t" r="r" b="b"/>
              <a:pathLst>
                <a:path w="17984851" h="13465811">
                  <a:moveTo>
                    <a:pt x="0" y="0"/>
                  </a:moveTo>
                  <a:lnTo>
                    <a:pt x="17984851" y="0"/>
                  </a:lnTo>
                  <a:lnTo>
                    <a:pt x="17984851" y="13465811"/>
                  </a:lnTo>
                  <a:lnTo>
                    <a:pt x="0" y="13465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7895" y="8989752"/>
            <a:ext cx="17230954" cy="41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93"/>
              </a:lnSpc>
            </a:pPr>
            <a:r>
              <a:rPr lang="en-US" sz="2251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6DE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DFB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651556"/>
            <a:ext cx="9833729" cy="6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4377" spc="-89">
                <a:solidFill>
                  <a:srgbClr val="3A3A3A"/>
                </a:solidFill>
                <a:latin typeface="Noto Serif"/>
                <a:ea typeface="Noto Serif"/>
                <a:cs typeface="Noto Serif"/>
                <a:sym typeface="Noto Serif"/>
              </a:rPr>
              <a:t>Digital Twin Prototype &amp; Future Vision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700960"/>
            <a:ext cx="3751779" cy="39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501" spc="-52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Latent Space Architecture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991" y="2476052"/>
            <a:ext cx="475117" cy="475136"/>
          </a:xfrm>
          <a:custGeom>
            <a:avLst/>
            <a:gdLst/>
            <a:ahLst/>
            <a:cxnLst/>
            <a:rect l="l" t="t" r="r" b="b"/>
            <a:pathLst>
              <a:path w="475117" h="475136">
                <a:moveTo>
                  <a:pt x="0" y="0"/>
                </a:moveTo>
                <a:lnTo>
                  <a:pt x="475116" y="0"/>
                </a:lnTo>
                <a:lnTo>
                  <a:pt x="475116" y="475136"/>
                </a:lnTo>
                <a:lnTo>
                  <a:pt x="0" y="475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001" r="-300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49968" y="2457002"/>
            <a:ext cx="2781776" cy="42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128-D Embedding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4153" y="3390264"/>
            <a:ext cx="7269051" cy="78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26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Compressed patient-level state for similarity search and trajectory modeling.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92991" y="4867793"/>
            <a:ext cx="475117" cy="475136"/>
          </a:xfrm>
          <a:custGeom>
            <a:avLst/>
            <a:gdLst/>
            <a:ahLst/>
            <a:cxnLst/>
            <a:rect l="l" t="t" r="r" b="b"/>
            <a:pathLst>
              <a:path w="475117" h="475136">
                <a:moveTo>
                  <a:pt x="0" y="0"/>
                </a:moveTo>
                <a:lnTo>
                  <a:pt x="475116" y="0"/>
                </a:lnTo>
                <a:lnTo>
                  <a:pt x="475116" y="475136"/>
                </a:lnTo>
                <a:lnTo>
                  <a:pt x="0" y="475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-2000" r="-200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7359" y="4799456"/>
            <a:ext cx="3076932" cy="42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Multi-Modal Fusion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3281" y="5658546"/>
            <a:ext cx="7269051" cy="38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26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MRI, clinical covariates, and temporal delta ΔF.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028700" y="7259534"/>
            <a:ext cx="475117" cy="475136"/>
          </a:xfrm>
          <a:custGeom>
            <a:avLst/>
            <a:gdLst/>
            <a:ahLst/>
            <a:cxnLst/>
            <a:rect l="l" t="t" r="r" b="b"/>
            <a:pathLst>
              <a:path w="475117" h="475136">
                <a:moveTo>
                  <a:pt x="0" y="0"/>
                </a:moveTo>
                <a:lnTo>
                  <a:pt x="475117" y="0"/>
                </a:lnTo>
                <a:lnTo>
                  <a:pt x="475117" y="475136"/>
                </a:lnTo>
                <a:lnTo>
                  <a:pt x="0" y="475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5998" b="-599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27359" y="7240484"/>
            <a:ext cx="2909769" cy="42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1" spc="-5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Personalized Twin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7135" y="8186558"/>
            <a:ext cx="7269051" cy="78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226" dirty="0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Supports progression simulation and treatment response estimation.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2355" y="1515691"/>
            <a:ext cx="4615815" cy="39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501" spc="-52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Roadmap to Clinical Integration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92355" y="2476052"/>
            <a:ext cx="7926029" cy="3566770"/>
            <a:chOff x="0" y="0"/>
            <a:chExt cx="10568038" cy="475569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0568051" cy="4755642"/>
            </a:xfrm>
            <a:custGeom>
              <a:avLst/>
              <a:gdLst/>
              <a:ahLst/>
              <a:cxnLst/>
              <a:rect l="l" t="t" r="r" b="b"/>
              <a:pathLst>
                <a:path w="10568051" h="4755642">
                  <a:moveTo>
                    <a:pt x="0" y="0"/>
                  </a:moveTo>
                  <a:lnTo>
                    <a:pt x="10568051" y="0"/>
                  </a:lnTo>
                  <a:lnTo>
                    <a:pt x="10568051" y="4755642"/>
                  </a:lnTo>
                  <a:lnTo>
                    <a:pt x="0" y="475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613" b="-614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586285" y="2079814"/>
            <a:ext cx="1387040" cy="635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2075" spc="-43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Latent Validation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86285" y="2858343"/>
            <a:ext cx="1387040" cy="40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1"/>
              </a:lnSpc>
            </a:pPr>
            <a:r>
              <a:rPr lang="en-US" sz="14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Verify 128-D embedding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58085" y="5202698"/>
            <a:ext cx="1394660" cy="6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6"/>
              </a:lnSpc>
            </a:pPr>
            <a:r>
              <a:rPr lang="en-US" sz="1975" spc="-4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Cohort Expansion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73325" y="5924893"/>
            <a:ext cx="1394660" cy="716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Broaden similarity sets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99405" y="2107779"/>
            <a:ext cx="1387040" cy="6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6"/>
              </a:lnSpc>
            </a:pPr>
            <a:r>
              <a:rPr lang="en-US" sz="1975" spc="-4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XAI Alignment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55369" y="2858343"/>
            <a:ext cx="1387040" cy="40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1"/>
              </a:lnSpc>
            </a:pPr>
            <a:r>
              <a:rPr lang="en-US" sz="14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Improve interpretability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86445" y="5385492"/>
            <a:ext cx="1387040" cy="6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6"/>
              </a:lnSpc>
            </a:pPr>
            <a:r>
              <a:rPr lang="en-US" sz="1975" spc="-41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Clinical Pilot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70578" y="6163018"/>
            <a:ext cx="1618774" cy="240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750">
                <a:solidFill>
                  <a:srgbClr val="4C4C4C"/>
                </a:solidFill>
                <a:latin typeface="Noto Serif"/>
                <a:ea typeface="Noto Serif"/>
                <a:cs typeface="Noto Serif"/>
                <a:sym typeface="Noto Serif"/>
              </a:rPr>
              <a:t>Deploy in trials</a:t>
            </a:r>
          </a:p>
        </p:txBody>
      </p:sp>
      <p:sp>
        <p:nvSpPr>
          <p:cNvPr id="28" name="Freeform 28" descr="preencoded.png"/>
          <p:cNvSpPr/>
          <p:nvPr/>
        </p:nvSpPr>
        <p:spPr>
          <a:xfrm>
            <a:off x="9392355" y="7097748"/>
            <a:ext cx="285074" cy="285083"/>
          </a:xfrm>
          <a:custGeom>
            <a:avLst/>
            <a:gdLst/>
            <a:ahLst/>
            <a:cxnLst/>
            <a:rect l="l" t="t" r="r" b="b"/>
            <a:pathLst>
              <a:path w="285074" h="285083">
                <a:moveTo>
                  <a:pt x="0" y="0"/>
                </a:moveTo>
                <a:lnTo>
                  <a:pt x="285074" y="0"/>
                </a:lnTo>
                <a:lnTo>
                  <a:pt x="285074" y="285083"/>
                </a:lnTo>
                <a:lnTo>
                  <a:pt x="0" y="2850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8336" r="-8333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010013" y="6983368"/>
            <a:ext cx="7308371" cy="75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2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Attention Slice Pooling</a:t>
            </a:r>
            <a:r>
              <a:rPr lang="en-US" sz="212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— 60% validation accuracy, +6.67pp vs. baselines</a:t>
            </a:r>
          </a:p>
        </p:txBody>
      </p:sp>
      <p:sp>
        <p:nvSpPr>
          <p:cNvPr id="30" name="Freeform 30" descr="preencoded.png"/>
          <p:cNvSpPr/>
          <p:nvPr/>
        </p:nvSpPr>
        <p:spPr>
          <a:xfrm>
            <a:off x="9463545" y="7981586"/>
            <a:ext cx="285074" cy="285083"/>
          </a:xfrm>
          <a:custGeom>
            <a:avLst/>
            <a:gdLst/>
            <a:ahLst/>
            <a:cxnLst/>
            <a:rect l="l" t="t" r="r" b="b"/>
            <a:pathLst>
              <a:path w="285074" h="285083">
                <a:moveTo>
                  <a:pt x="0" y="0"/>
                </a:moveTo>
                <a:lnTo>
                  <a:pt x="285073" y="0"/>
                </a:lnTo>
                <a:lnTo>
                  <a:pt x="285073" y="285084"/>
                </a:lnTo>
                <a:lnTo>
                  <a:pt x="0" y="2850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8336" r="-8333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010013" y="7933961"/>
            <a:ext cx="7308371" cy="75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2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Signed Grad-CAM</a:t>
            </a:r>
            <a:r>
              <a:rPr lang="en-US" sz="212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— first longitudinal glioma MRI application</a:t>
            </a:r>
          </a:p>
        </p:txBody>
      </p:sp>
      <p:sp>
        <p:nvSpPr>
          <p:cNvPr id="32" name="Freeform 32" descr="preencoded.png"/>
          <p:cNvSpPr/>
          <p:nvPr/>
        </p:nvSpPr>
        <p:spPr>
          <a:xfrm>
            <a:off x="9463545" y="8973217"/>
            <a:ext cx="285074" cy="285083"/>
          </a:xfrm>
          <a:custGeom>
            <a:avLst/>
            <a:gdLst/>
            <a:ahLst/>
            <a:cxnLst/>
            <a:rect l="l" t="t" r="r" b="b"/>
            <a:pathLst>
              <a:path w="285074" h="285083">
                <a:moveTo>
                  <a:pt x="0" y="0"/>
                </a:moveTo>
                <a:lnTo>
                  <a:pt x="285073" y="0"/>
                </a:lnTo>
                <a:lnTo>
                  <a:pt x="285073" y="285083"/>
                </a:lnTo>
                <a:lnTo>
                  <a:pt x="0" y="2850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l="-8336" r="-8333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010013" y="8866111"/>
            <a:ext cx="7308371" cy="75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0"/>
              </a:lnSpc>
            </a:pPr>
            <a:r>
              <a:rPr lang="en-US" sz="212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Digital Twin Embedding</a:t>
            </a:r>
            <a:r>
              <a:rPr lang="en-US" sz="2126">
                <a:solidFill>
                  <a:srgbClr val="1E293B"/>
                </a:solidFill>
                <a:latin typeface="Noto Serif"/>
                <a:ea typeface="Noto Serif"/>
                <a:cs typeface="Noto Serif"/>
                <a:sym typeface="Noto Serif"/>
              </a:rPr>
              <a:t> — 128-D personalized representation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346" y="9636462"/>
            <a:ext cx="17230954" cy="37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10"/>
              </a:lnSpc>
            </a:pPr>
            <a:r>
              <a:rPr lang="en-US" sz="212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7202" y="2590958"/>
            <a:ext cx="10089118" cy="3645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1"/>
              </a:lnSpc>
              <a:spcBef>
                <a:spcPct val="0"/>
              </a:spcBef>
            </a:pPr>
            <a:r>
              <a:rPr lang="en-US" sz="8751" spc="-175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Thank You</a:t>
            </a:r>
          </a:p>
          <a:p>
            <a:pPr algn="ctr">
              <a:lnSpc>
                <a:spcPts val="5555"/>
              </a:lnSpc>
              <a:spcBef>
                <a:spcPct val="0"/>
              </a:spcBef>
            </a:pPr>
            <a:endParaRPr lang="en-US" sz="8751" spc="-175">
              <a:solidFill>
                <a:srgbClr val="000000"/>
              </a:solidFill>
              <a:latin typeface="Noto Serif"/>
              <a:ea typeface="Noto Serif"/>
              <a:cs typeface="Noto Serif"/>
              <a:sym typeface="Noto Serif"/>
            </a:endParaRPr>
          </a:p>
          <a:p>
            <a:pPr algn="ctr">
              <a:lnSpc>
                <a:spcPts val="6678"/>
              </a:lnSpc>
              <a:spcBef>
                <a:spcPct val="0"/>
              </a:spcBef>
            </a:pPr>
            <a:endParaRPr lang="en-US" sz="8751" spc="-175">
              <a:solidFill>
                <a:srgbClr val="000000"/>
              </a:solidFill>
              <a:latin typeface="Noto Serif"/>
              <a:ea typeface="Noto Serif"/>
              <a:cs typeface="Noto Serif"/>
              <a:sym typeface="Noto Serif"/>
            </a:endParaRPr>
          </a:p>
          <a:p>
            <a:pPr algn="ctr">
              <a:lnSpc>
                <a:spcPts val="5555"/>
              </a:lnSpc>
              <a:spcBef>
                <a:spcPct val="0"/>
              </a:spcBef>
            </a:pPr>
            <a:r>
              <a:rPr lang="en-US" sz="4451" spc="-89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Thank you for your time and attention.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346" y="9636462"/>
            <a:ext cx="17230954" cy="37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10"/>
              </a:lnSpc>
            </a:pPr>
            <a:r>
              <a:rPr lang="en-US" sz="2126" b="1">
                <a:solidFill>
                  <a:srgbClr val="1E293B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632</Words>
  <Application>Microsoft Office PowerPoint</Application>
  <PresentationFormat>Custom</PresentationFormat>
  <Paragraphs>173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Noto Serif Bold</vt:lpstr>
      <vt:lpstr>Noto Serif</vt:lpstr>
      <vt:lpstr>Aptos 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5</cp:revision>
  <dcterms:created xsi:type="dcterms:W3CDTF">2006-08-16T00:00:00Z</dcterms:created>
  <dcterms:modified xsi:type="dcterms:W3CDTF">2026-09-09T18:34:23Z</dcterms:modified>
  <dc:identifier>DAHUuhS37TQ</dc:identifier>
</cp:coreProperties>
</file>